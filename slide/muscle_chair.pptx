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4" r:id="rId3"/>
    <p:sldId id="261" r:id="rId4"/>
    <p:sldId id="265" r:id="rId5"/>
    <p:sldId id="266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72" y="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7D9498-F8DC-40DA-A794-472EE121FDB5}" type="datetimeFigureOut">
              <a:rPr kumimoji="1" lang="ja-JP" altLang="en-US" smtClean="0"/>
              <a:t>2025/9/27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CC13A2-22D1-4DBB-99AA-28EE8D52F2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1683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CC13A2-22D1-4DBB-99AA-28EE8D52F284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63358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 descr="人, 屋外, 水, スポーツゲーム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8262DF4C-188C-E326-5F77-E2487C6615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94" b="8894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12A99F9-5405-8381-D294-A4D91E80DE8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solidFill>
              <a:srgbClr val="FFFF00">
                <a:alpha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FC18DB38-E531-0265-9744-808CC34008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000" b="1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A357554-51B6-B096-27E8-C8C1A835FB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kumimoji="1" lang="ja-JP" altLang="en-US" dirty="0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5A6D7E8-4D4E-704E-9DED-15B016D46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BCD49-7BF8-465B-B3C8-C8DB6E36F0EA}" type="datetimeFigureOut">
              <a:rPr kumimoji="1" lang="ja-JP" altLang="en-US" smtClean="0"/>
              <a:t>2025/9/27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89A2B-B201-C42B-6A1A-CE6FE5897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39BA4A8-887F-FDFD-1245-C3A0A8BCD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9D727-202F-41E9-B9E9-EC03C40CD1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8154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6374CC2A-B17E-0FB5-2B17-C166AC530CD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solidFill>
              <a:srgbClr val="FFFF00">
                <a:alpha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6786D10-74AF-C88E-DC0C-7FB22A4CE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365" y="1197691"/>
            <a:ext cx="11869270" cy="5523784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146A6758-8417-0CE5-9A84-A83CDC2E7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365" y="203602"/>
            <a:ext cx="11869270" cy="724087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520A4A6-786C-4038-8C17-C22B311DE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BCD49-7BF8-465B-B3C8-C8DB6E36F0EA}" type="datetimeFigureOut">
              <a:rPr kumimoji="1" lang="ja-JP" altLang="en-US" smtClean="0"/>
              <a:t>2025/9/27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40ADE6C-32F1-E399-601C-6A43E7B2F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57409FD-FD69-69E0-6340-DBC606AA2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0"/>
            <a:ext cx="2743200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defRPr>
            </a:lvl1pPr>
          </a:lstStyle>
          <a:p>
            <a:fld id="{2959D727-202F-41E9-B9E9-EC03C40CD1D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8" name="図 7" descr="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45F5288D-DFB8-02DE-4D60-37ECEA5ED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5906" y="657691"/>
            <a:ext cx="540000" cy="540000"/>
          </a:xfrm>
          <a:prstGeom prst="rect">
            <a:avLst/>
          </a:prstGeom>
        </p:spPr>
      </p:pic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A2FE09EF-739E-0F7C-CDBD-76A58AE49D5D}"/>
              </a:ext>
            </a:extLst>
          </p:cNvPr>
          <p:cNvCxnSpPr>
            <a:cxnSpLocks/>
            <a:stCxn id="8" idx="1"/>
            <a:endCxn id="18" idx="3"/>
          </p:cNvCxnSpPr>
          <p:nvPr/>
        </p:nvCxnSpPr>
        <p:spPr>
          <a:xfrm flipH="1">
            <a:off x="701365" y="927691"/>
            <a:ext cx="10784541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図 17" descr="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1857976E-2776-EEB7-C045-F2AEC68733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1365" y="657691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14662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1EF04C-3B4C-7D62-109B-1DCEDF76E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A364486-04E8-6C92-FBC4-6C0AF1CA7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F8ACC60-0F33-DDFF-2968-FAC100571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BCD49-7BF8-465B-B3C8-C8DB6E36F0EA}" type="datetimeFigureOut">
              <a:rPr kumimoji="1" lang="ja-JP" altLang="en-US" smtClean="0"/>
              <a:t>2025/9/27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C26275-8544-0581-B06D-34B183929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0410F64-E0C8-C304-CA17-0BDF484CF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9D727-202F-41E9-B9E9-EC03C40CD1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1540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9D4C4A-C816-55B4-3A74-5167C87CA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383641-4D67-AE0F-6A01-F6E7456149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8ADB25C-88E6-6CB8-8959-DC661B0123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B1137AC-954C-48A9-6B32-4EA040439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BCD49-7BF8-465B-B3C8-C8DB6E36F0EA}" type="datetimeFigureOut">
              <a:rPr kumimoji="1" lang="ja-JP" altLang="en-US" smtClean="0"/>
              <a:t>2025/9/27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6951398-7DCE-3603-9E17-710A22783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DEE837C-69E1-11A3-A12E-24B3E817A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9D727-202F-41E9-B9E9-EC03C40CD1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7448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13F189-495C-E5B7-955A-B70DEE191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077B833-7940-FE3C-CDAC-F28F4FF30B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3ABFAF1-04B5-59E3-B9BF-34D3F4DED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FD8B46E-2812-3CD1-2CCF-396BE022D0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269F0FA-D211-2E78-8C96-D3C451C1A0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3369DB9-B5C0-C30E-C9C5-CBD0102E8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BCD49-7BF8-465B-B3C8-C8DB6E36F0EA}" type="datetimeFigureOut">
              <a:rPr kumimoji="1" lang="ja-JP" altLang="en-US" smtClean="0"/>
              <a:t>2025/9/27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4E6D13E-90E6-0CBB-C632-A292F52CB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600C5A9-203A-5BDF-8677-D575C3722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9D727-202F-41E9-B9E9-EC03C40CD1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4836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64B725-615F-F0FC-4B57-8B2B76D59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489C82C-5ACC-B7E5-5802-F659C762D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BCD49-7BF8-465B-B3C8-C8DB6E36F0EA}" type="datetimeFigureOut">
              <a:rPr kumimoji="1" lang="ja-JP" altLang="en-US" smtClean="0"/>
              <a:t>2025/9/27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E32D1DC-65FE-8A99-D973-0047B2407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E9CB7FA-A79C-4ACF-28F4-7F74D97FC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9D727-202F-41E9-B9E9-EC03C40CD1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901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716DD6C-734F-80B0-CCCD-02FF7788F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BCD49-7BF8-465B-B3C8-C8DB6E36F0EA}" type="datetimeFigureOut">
              <a:rPr kumimoji="1" lang="ja-JP" altLang="en-US" smtClean="0"/>
              <a:t>2025/9/27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0F7D0A4-ED47-E28A-90B0-5EFEE97E9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DFED0FD-3F4E-01AD-B49D-FDFA5A292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9D727-202F-41E9-B9E9-EC03C40CD1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346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237931-F170-33CE-7AED-C7E761DE2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B8BFB0D-6B7F-D94D-8B0A-D8F2E8DB0F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857E2AF-B741-8E0A-1E15-379F0FFB0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33C2CDE-A3B7-FF1F-037C-C3ED2D122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BCD49-7BF8-465B-B3C8-C8DB6E36F0EA}" type="datetimeFigureOut">
              <a:rPr kumimoji="1" lang="ja-JP" altLang="en-US" smtClean="0"/>
              <a:t>2025/9/27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729EA61-A30D-D908-E7E9-968C48389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73C858C-2C5D-DB7D-1617-453433959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9D727-202F-41E9-B9E9-EC03C40CD1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1944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7F5493-71DC-FF71-F33A-8D49881FA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793EB01-5D1A-A0C6-F8A1-196D812557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0B63D86-7E2F-07D1-3B38-41E8FB9012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5E5732D-EF5F-0A4A-17F8-963156E8B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BCD49-7BF8-465B-B3C8-C8DB6E36F0EA}" type="datetimeFigureOut">
              <a:rPr kumimoji="1" lang="ja-JP" altLang="en-US" smtClean="0"/>
              <a:t>2025/9/27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1D137B2-5020-8FE6-D551-42EAA010D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D461AA9-6844-100B-6693-54EA315E6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9D727-202F-41E9-B9E9-EC03C40CD1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7673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E88D3D-6616-4F47-323C-FDF93F0FF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492A18A-D57D-9311-42CA-0A9907254E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FA09D55-96C8-8DC0-5C17-5118BF505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BCD49-7BF8-465B-B3C8-C8DB6E36F0EA}" type="datetimeFigureOut">
              <a:rPr kumimoji="1" lang="ja-JP" altLang="en-US" smtClean="0"/>
              <a:t>2025/9/27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5832077-4F6E-4E3E-D507-F2A1F579C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BE1B9F-F6AB-67A8-028F-CF80C7F57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9D727-202F-41E9-B9E9-EC03C40CD1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3290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82FFAF3-6748-A953-27D1-4598B51E67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83672A9-7E73-FA80-9470-A6AEB577CC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85E178-8AC3-7CFD-3F87-977386B0A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BCD49-7BF8-465B-B3C8-C8DB6E36F0EA}" type="datetimeFigureOut">
              <a:rPr kumimoji="1" lang="ja-JP" altLang="en-US" smtClean="0"/>
              <a:t>2025/9/27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D520E44-1481-F704-7BFF-9D607ECD3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EBF1DE3-2DCD-A1C7-6851-6E9A9ADAA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9D727-202F-41E9-B9E9-EC03C40CD1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7818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A00FED6-8A3D-0331-9493-235F83B88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27D3CE7-0346-29FC-11B1-0BFD3E3051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A243CBC-6F8E-7829-1093-FA8303B207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CBCD49-7BF8-465B-B3C8-C8DB6E36F0EA}" type="datetimeFigureOut">
              <a:rPr kumimoji="1" lang="ja-JP" altLang="en-US" smtClean="0"/>
              <a:t>2025/9/27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D557939-45B8-211C-578A-F06BE53908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8A9C26E-2729-66EF-5FC7-4C8F75E7E9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59D727-202F-41E9-B9E9-EC03C40CD1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0197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Arial" panose="020B0604020202020204" pitchFamily="34" charset="0"/>
          <a:ea typeface="ＭＳ Ｐゴシック" panose="020B0600070205080204" pitchFamily="50" charset="-128"/>
          <a:cs typeface="Arial" panose="020B0604020202020204" pitchFamily="34" charset="0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Arial" panose="020B0604020202020204" pitchFamily="34" charset="0"/>
          <a:ea typeface="ＭＳ Ｐゴシック" panose="020B0600070205080204" pitchFamily="50" charset="-128"/>
          <a:cs typeface="Arial" panose="020B0604020202020204" pitchFamily="34" charset="0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‒"/>
        <a:defRPr kumimoji="1" sz="2400" kern="1200">
          <a:solidFill>
            <a:schemeClr val="tx1"/>
          </a:solidFill>
          <a:latin typeface="Arial" panose="020B0604020202020204" pitchFamily="34" charset="0"/>
          <a:ea typeface="ＭＳ Ｐゴシック" panose="020B0600070205080204" pitchFamily="50" charset="-128"/>
          <a:cs typeface="Arial" panose="020B0604020202020204" pitchFamily="34" charset="0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Arial" panose="020B0604020202020204" pitchFamily="34" charset="0"/>
          <a:ea typeface="ＭＳ Ｐゴシック" panose="020B0600070205080204" pitchFamily="50" charset="-128"/>
          <a:cs typeface="Arial" panose="020B0604020202020204" pitchFamily="34" charset="0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‒"/>
        <a:defRPr kumimoji="1" sz="1800" kern="1200">
          <a:solidFill>
            <a:schemeClr val="tx1"/>
          </a:solidFill>
          <a:latin typeface="Arial" panose="020B0604020202020204" pitchFamily="34" charset="0"/>
          <a:ea typeface="ＭＳ Ｐゴシック" panose="020B0600070205080204" pitchFamily="50" charset="-128"/>
          <a:cs typeface="Arial" panose="020B0604020202020204" pitchFamily="34" charset="0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Arial" panose="020B0604020202020204" pitchFamily="34" charset="0"/>
          <a:ea typeface="ＭＳ Ｐゴシック" panose="020B0600070205080204" pitchFamily="50" charset="-128"/>
          <a:cs typeface="Arial" panose="020B0604020202020204" pitchFamily="34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058FFD-602F-2B57-AB0A-1656236AAA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38995"/>
            <a:ext cx="9144000" cy="2387600"/>
          </a:xfrm>
        </p:spPr>
        <p:txBody>
          <a:bodyPr/>
          <a:lstStyle/>
          <a:p>
            <a:r>
              <a:rPr kumimoji="1" lang="ja-JP" altLang="en-US" dirty="0"/>
              <a:t>タイトル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A68A223-E5C3-289E-864E-1317F7C3C0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71405"/>
            <a:ext cx="9144000" cy="1655763"/>
          </a:xfrm>
        </p:spPr>
        <p:txBody>
          <a:bodyPr/>
          <a:lstStyle/>
          <a:p>
            <a:r>
              <a:rPr kumimoji="1" lang="ja-JP" altLang="en-US" dirty="0"/>
              <a:t>あああ</a:t>
            </a:r>
          </a:p>
        </p:txBody>
      </p:sp>
      <p:grpSp>
        <p:nvGrpSpPr>
          <p:cNvPr id="71" name="グループ化 70">
            <a:extLst>
              <a:ext uri="{FF2B5EF4-FFF2-40B4-BE49-F238E27FC236}">
                <a16:creationId xmlns:a16="http://schemas.microsoft.com/office/drawing/2014/main" id="{4F1DE631-0B2C-C75E-0A23-E229A2C1F635}"/>
              </a:ext>
            </a:extLst>
          </p:cNvPr>
          <p:cNvGrpSpPr/>
          <p:nvPr/>
        </p:nvGrpSpPr>
        <p:grpSpPr>
          <a:xfrm>
            <a:off x="606002" y="3431407"/>
            <a:ext cx="10979999" cy="540000"/>
            <a:chOff x="606000" y="3159000"/>
            <a:chExt cx="10979999" cy="540000"/>
          </a:xfrm>
        </p:grpSpPr>
        <p:pic>
          <p:nvPicPr>
            <p:cNvPr id="62" name="図 61" descr="ロゴ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F7B42250-06BF-7979-4CF0-829DA3A327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26000" y="3159000"/>
              <a:ext cx="540000" cy="540000"/>
            </a:xfrm>
            <a:prstGeom prst="rect">
              <a:avLst/>
            </a:prstGeom>
          </p:spPr>
        </p:pic>
        <p:cxnSp>
          <p:nvCxnSpPr>
            <p:cNvPr id="64" name="直線コネクタ 63">
              <a:extLst>
                <a:ext uri="{FF2B5EF4-FFF2-40B4-BE49-F238E27FC236}">
                  <a16:creationId xmlns:a16="http://schemas.microsoft.com/office/drawing/2014/main" id="{EC6644A2-8A75-EDA0-336F-8EAFC685C566}"/>
                </a:ext>
              </a:extLst>
            </p:cNvPr>
            <p:cNvCxnSpPr>
              <a:cxnSpLocks/>
              <a:endCxn id="62" idx="3"/>
            </p:cNvCxnSpPr>
            <p:nvPr/>
          </p:nvCxnSpPr>
          <p:spPr>
            <a:xfrm flipH="1">
              <a:off x="6365999" y="3429000"/>
              <a:ext cx="52200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線コネクタ 67">
              <a:extLst>
                <a:ext uri="{FF2B5EF4-FFF2-40B4-BE49-F238E27FC236}">
                  <a16:creationId xmlns:a16="http://schemas.microsoft.com/office/drawing/2014/main" id="{253E88F9-7915-B19C-8A09-D3150F8F38B9}"/>
                </a:ext>
              </a:extLst>
            </p:cNvPr>
            <p:cNvCxnSpPr>
              <a:cxnSpLocks/>
              <a:stCxn id="62" idx="1"/>
            </p:cNvCxnSpPr>
            <p:nvPr/>
          </p:nvCxnSpPr>
          <p:spPr>
            <a:xfrm flipH="1">
              <a:off x="606000" y="3429000"/>
              <a:ext cx="52200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A35151C8-4E64-7DB1-D6B4-54F0F00ED5FD}"/>
              </a:ext>
            </a:extLst>
          </p:cNvPr>
          <p:cNvSpPr txBox="1"/>
          <p:nvPr/>
        </p:nvSpPr>
        <p:spPr>
          <a:xfrm>
            <a:off x="0" y="1"/>
            <a:ext cx="43225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Web × IoT </a:t>
            </a:r>
            <a:r>
              <a:rPr lang="ja-JP" altLang="en-US" sz="16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メイカーズチャレンジ </a:t>
            </a:r>
            <a:r>
              <a:rPr lang="en-US" altLang="ja-JP" sz="16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PLUS in </a:t>
            </a:r>
            <a:r>
              <a:rPr lang="ja-JP" altLang="en-US" sz="16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岡山</a:t>
            </a:r>
            <a:endParaRPr lang="en-US" altLang="ja-JP" sz="1600" dirty="0">
              <a:latin typeface="Arial" panose="020B0604020202020204" pitchFamily="34" charset="0"/>
              <a:ea typeface="ＭＳ Ｐゴシック" panose="020B0600070205080204" pitchFamily="50" charset="-128"/>
              <a:cs typeface="Arial" panose="020B0604020202020204" pitchFamily="34" charset="0"/>
            </a:endParaRPr>
          </a:p>
          <a:p>
            <a:r>
              <a:rPr lang="en-US" altLang="ja-JP" sz="16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2025</a:t>
            </a:r>
            <a:r>
              <a:rPr lang="ja-JP" altLang="en-US" sz="16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年</a:t>
            </a:r>
            <a:r>
              <a:rPr lang="en-US" altLang="ja-JP" sz="16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9</a:t>
            </a:r>
            <a:r>
              <a:rPr lang="ja-JP" altLang="en-US" sz="16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月</a:t>
            </a:r>
            <a:r>
              <a:rPr lang="en-US" altLang="ja-JP" sz="16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28</a:t>
            </a:r>
            <a:r>
              <a:rPr lang="ja-JP" altLang="en-US" sz="16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3545992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F1984722-B03A-0EDB-C2BF-61A54B404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その応援，もったいない！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4840AAF-458C-A602-5DFA-9BC312C5D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9D727-202F-41E9-B9E9-EC03C40CD1DE}" type="slidenum">
              <a:rPr lang="ja-JP" altLang="en-US" smtClean="0"/>
              <a:pPr/>
              <a:t>2</a:t>
            </a:fld>
            <a:endParaRPr lang="ja-JP" altLang="en-US" dirty="0"/>
          </a:p>
        </p:txBody>
      </p: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E9A9F402-A1C4-5F92-80C8-4367ACCCD8A8}"/>
              </a:ext>
            </a:extLst>
          </p:cNvPr>
          <p:cNvGrpSpPr/>
          <p:nvPr/>
        </p:nvGrpSpPr>
        <p:grpSpPr>
          <a:xfrm>
            <a:off x="1321621" y="1164398"/>
            <a:ext cx="4059999" cy="5490000"/>
            <a:chOff x="1321621" y="1164398"/>
            <a:chExt cx="4059999" cy="5490000"/>
          </a:xfrm>
        </p:grpSpPr>
        <p:pic>
          <p:nvPicPr>
            <p:cNvPr id="20" name="グラフィックス 19">
              <a:extLst>
                <a:ext uri="{FF2B5EF4-FFF2-40B4-BE49-F238E27FC236}">
                  <a16:creationId xmlns:a16="http://schemas.microsoft.com/office/drawing/2014/main" id="{404AEE2A-82E8-E325-B831-F09EF16338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321621" y="1434398"/>
              <a:ext cx="4059999" cy="5220000"/>
            </a:xfrm>
            <a:prstGeom prst="rect">
              <a:avLst/>
            </a:prstGeom>
          </p:spPr>
        </p:pic>
        <p:sp>
          <p:nvSpPr>
            <p:cNvPr id="22" name="四角形: 角を丸くする 21">
              <a:extLst>
                <a:ext uri="{FF2B5EF4-FFF2-40B4-BE49-F238E27FC236}">
                  <a16:creationId xmlns:a16="http://schemas.microsoft.com/office/drawing/2014/main" id="{9B2F2A5E-0C7C-B193-D351-C6FE6AA7BCEE}"/>
                </a:ext>
              </a:extLst>
            </p:cNvPr>
            <p:cNvSpPr/>
            <p:nvPr/>
          </p:nvSpPr>
          <p:spPr>
            <a:xfrm>
              <a:off x="2001620" y="1164398"/>
              <a:ext cx="2700000" cy="540000"/>
            </a:xfrm>
            <a:prstGeom prst="roundRect">
              <a:avLst/>
            </a:prstGeom>
            <a:solidFill>
              <a:srgbClr val="FF0000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400" dirty="0">
                  <a:solidFill>
                    <a:schemeClr val="bg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岡山のスポーツ</a:t>
              </a:r>
              <a:endParaRPr kumimoji="1" lang="ja-JP" altLang="en-US" sz="2400" dirty="0">
                <a:solidFill>
                  <a:schemeClr val="bg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endParaRPr>
            </a:p>
          </p:txBody>
        </p:sp>
      </p:grp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08E1F773-2089-E9F8-376F-8E9B3F9EC7EB}"/>
              </a:ext>
            </a:extLst>
          </p:cNvPr>
          <p:cNvGrpSpPr/>
          <p:nvPr/>
        </p:nvGrpSpPr>
        <p:grpSpPr>
          <a:xfrm>
            <a:off x="6810382" y="1164398"/>
            <a:ext cx="4061285" cy="5490000"/>
            <a:chOff x="6810382" y="1164398"/>
            <a:chExt cx="4061285" cy="5490000"/>
          </a:xfrm>
        </p:grpSpPr>
        <p:pic>
          <p:nvPicPr>
            <p:cNvPr id="17" name="図 16" descr="テーブル, ノートパソコン, 人, コンピュータ が含まれている画像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640EE6E8-EC38-E739-676A-FD97151CEA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32"/>
            <a:stretch>
              <a:fillRect/>
            </a:stretch>
          </p:blipFill>
          <p:spPr>
            <a:xfrm>
              <a:off x="6810382" y="1434398"/>
              <a:ext cx="4061285" cy="5220000"/>
            </a:xfrm>
            <a:prstGeom prst="rect">
              <a:avLst/>
            </a:prstGeom>
          </p:spPr>
        </p:pic>
        <p:sp>
          <p:nvSpPr>
            <p:cNvPr id="23" name="四角形: 角を丸くする 22">
              <a:extLst>
                <a:ext uri="{FF2B5EF4-FFF2-40B4-BE49-F238E27FC236}">
                  <a16:creationId xmlns:a16="http://schemas.microsoft.com/office/drawing/2014/main" id="{61662CAE-6611-B6EB-D9F1-54ED4C0390B7}"/>
                </a:ext>
              </a:extLst>
            </p:cNvPr>
            <p:cNvSpPr/>
            <p:nvPr/>
          </p:nvSpPr>
          <p:spPr>
            <a:xfrm>
              <a:off x="7491024" y="1164398"/>
              <a:ext cx="2700000" cy="540000"/>
            </a:xfrm>
            <a:prstGeom prst="roundRect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400" dirty="0">
                  <a:solidFill>
                    <a:schemeClr val="bg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私たちの日常</a:t>
              </a:r>
              <a:endParaRPr kumimoji="1" lang="ja-JP" altLang="en-US" sz="2400" dirty="0">
                <a:solidFill>
                  <a:schemeClr val="bg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endParaRPr>
            </a:p>
          </p:txBody>
        </p:sp>
      </p:grp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905403CB-A8EC-55F8-7B31-82DB74F2318D}"/>
              </a:ext>
            </a:extLst>
          </p:cNvPr>
          <p:cNvSpPr/>
          <p:nvPr/>
        </p:nvSpPr>
        <p:spPr>
          <a:xfrm>
            <a:off x="2001620" y="3504398"/>
            <a:ext cx="2700000" cy="1080000"/>
          </a:xfrm>
          <a:prstGeom prst="roundRect">
            <a:avLst/>
          </a:prstGeom>
          <a:solidFill>
            <a:srgbClr val="FF0000"/>
          </a:solidFill>
          <a:ln w="38100">
            <a:solidFill>
              <a:schemeClr val="bg1"/>
            </a:solidFill>
          </a:ln>
          <a:effectLst>
            <a:outerShdw blurRad="50800" dist="889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200" dirty="0">
                <a:solidFill>
                  <a:schemeClr val="bg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熱狂的な</a:t>
            </a:r>
            <a:br>
              <a:rPr kumimoji="1" lang="en-US" altLang="ja-JP" sz="3200" dirty="0">
                <a:solidFill>
                  <a:schemeClr val="bg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r>
              <a:rPr kumimoji="1" lang="ja-JP" altLang="en-US" sz="3200" dirty="0">
                <a:solidFill>
                  <a:schemeClr val="bg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エネルギー</a:t>
            </a: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653B3569-50A4-933E-1F36-7AF58E83B8AE}"/>
              </a:ext>
            </a:extLst>
          </p:cNvPr>
          <p:cNvSpPr/>
          <p:nvPr/>
        </p:nvSpPr>
        <p:spPr>
          <a:xfrm>
            <a:off x="7491024" y="3504398"/>
            <a:ext cx="2700000" cy="1080000"/>
          </a:xfrm>
          <a:prstGeom prst="roundRect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200" dirty="0">
                <a:solidFill>
                  <a:schemeClr val="bg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座りっぱなしの時間</a:t>
            </a:r>
          </a:p>
        </p:txBody>
      </p: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99FCCF05-7477-6693-966C-873CD9496349}"/>
              </a:ext>
            </a:extLst>
          </p:cNvPr>
          <p:cNvGrpSpPr/>
          <p:nvPr/>
        </p:nvGrpSpPr>
        <p:grpSpPr>
          <a:xfrm>
            <a:off x="3936001" y="2694398"/>
            <a:ext cx="4320000" cy="1710000"/>
            <a:chOff x="3936001" y="2694398"/>
            <a:chExt cx="4320000" cy="1710000"/>
          </a:xfrm>
        </p:grpSpPr>
        <p:sp>
          <p:nvSpPr>
            <p:cNvPr id="26" name="矢印: 右 25">
              <a:extLst>
                <a:ext uri="{FF2B5EF4-FFF2-40B4-BE49-F238E27FC236}">
                  <a16:creationId xmlns:a16="http://schemas.microsoft.com/office/drawing/2014/main" id="{A564866D-00EA-924F-B8A0-C8BEB95B5FC3}"/>
                </a:ext>
              </a:extLst>
            </p:cNvPr>
            <p:cNvSpPr/>
            <p:nvPr/>
          </p:nvSpPr>
          <p:spPr>
            <a:xfrm>
              <a:off x="4701620" y="3684398"/>
              <a:ext cx="2788762" cy="720000"/>
            </a:xfrm>
            <a:prstGeom prst="rightArrow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四角形: 角を丸くする 27">
              <a:extLst>
                <a:ext uri="{FF2B5EF4-FFF2-40B4-BE49-F238E27FC236}">
                  <a16:creationId xmlns:a16="http://schemas.microsoft.com/office/drawing/2014/main" id="{71FB97C1-BF9E-7B35-E2A3-EC5AEE7DFE65}"/>
                </a:ext>
              </a:extLst>
            </p:cNvPr>
            <p:cNvSpPr/>
            <p:nvPr/>
          </p:nvSpPr>
          <p:spPr>
            <a:xfrm>
              <a:off x="3936001" y="2694398"/>
              <a:ext cx="4320000" cy="900000"/>
            </a:xfrm>
            <a:prstGeom prst="roundRect">
              <a:avLst/>
            </a:prstGeom>
            <a:solidFill>
              <a:srgbClr val="00B050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400" dirty="0">
                  <a:solidFill>
                    <a:schemeClr val="bg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このエネルギーで</a:t>
              </a:r>
              <a:br>
                <a:rPr lang="en-US" altLang="ja-JP" sz="2400" dirty="0">
                  <a:solidFill>
                    <a:schemeClr val="bg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</a:br>
              <a:r>
                <a:rPr lang="ja-JP" altLang="en-US" sz="2400" dirty="0">
                  <a:solidFill>
                    <a:schemeClr val="bg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運動不足を解消できないか？</a:t>
              </a:r>
              <a:endParaRPr kumimoji="1" lang="ja-JP" altLang="en-US" sz="2400" dirty="0">
                <a:solidFill>
                  <a:schemeClr val="bg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61185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CD30538A-9087-4905-0A48-834DB5ED8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マッスルチェア，ここに誕生！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C1A9B90-20E4-4613-A859-DF578A4D6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9D727-202F-41E9-B9E9-EC03C40CD1DE}" type="slidenum">
              <a:rPr lang="ja-JP" altLang="en-US" smtClean="0"/>
              <a:pPr/>
              <a:t>3</a:t>
            </a:fld>
            <a:endParaRPr lang="ja-JP" altLang="en-US" dirty="0"/>
          </a:p>
        </p:txBody>
      </p:sp>
      <p:pic>
        <p:nvPicPr>
          <p:cNvPr id="26" name="グラフィックス 24">
            <a:extLst>
              <a:ext uri="{FF2B5EF4-FFF2-40B4-BE49-F238E27FC236}">
                <a16:creationId xmlns:a16="http://schemas.microsoft.com/office/drawing/2014/main" id="{D1465DE2-7BEA-3BA8-1D4D-3E331A55EA0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666000" y="1529581"/>
            <a:ext cx="4860000" cy="4860000"/>
          </a:xfrm>
          <a:custGeom>
            <a:avLst/>
            <a:gdLst>
              <a:gd name="connsiteX0" fmla="*/ 22 w 4709253"/>
              <a:gd name="connsiteY0" fmla="*/ -22 h 4709253"/>
              <a:gd name="connsiteX1" fmla="*/ 4709276 w 4709253"/>
              <a:gd name="connsiteY1" fmla="*/ -22 h 4709253"/>
              <a:gd name="connsiteX2" fmla="*/ 4709276 w 4709253"/>
              <a:gd name="connsiteY2" fmla="*/ 4709232 h 4709253"/>
              <a:gd name="connsiteX3" fmla="*/ 22 w 4709253"/>
              <a:gd name="connsiteY3" fmla="*/ 4709232 h 4709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09253" h="4709253">
                <a:moveTo>
                  <a:pt x="22" y="-22"/>
                </a:moveTo>
                <a:lnTo>
                  <a:pt x="4709276" y="-22"/>
                </a:lnTo>
                <a:lnTo>
                  <a:pt x="4709276" y="4709232"/>
                </a:lnTo>
                <a:lnTo>
                  <a:pt x="22" y="4709232"/>
                </a:lnTo>
                <a:close/>
              </a:path>
            </a:pathLst>
          </a:custGeom>
        </p:spPr>
      </p:pic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7A34F062-FB56-8E6D-BA90-BD4205E90C60}"/>
              </a:ext>
            </a:extLst>
          </p:cNvPr>
          <p:cNvGrpSpPr/>
          <p:nvPr/>
        </p:nvGrpSpPr>
        <p:grpSpPr>
          <a:xfrm>
            <a:off x="161365" y="1790161"/>
            <a:ext cx="3504635" cy="4056770"/>
            <a:chOff x="161365" y="1790161"/>
            <a:chExt cx="3504635" cy="4056770"/>
          </a:xfrm>
        </p:grpSpPr>
        <p:grpSp>
          <p:nvGrpSpPr>
            <p:cNvPr id="18" name="グループ化 17">
              <a:extLst>
                <a:ext uri="{FF2B5EF4-FFF2-40B4-BE49-F238E27FC236}">
                  <a16:creationId xmlns:a16="http://schemas.microsoft.com/office/drawing/2014/main" id="{76B8852B-AC48-FE9F-C35D-624BF12972AF}"/>
                </a:ext>
              </a:extLst>
            </p:cNvPr>
            <p:cNvGrpSpPr/>
            <p:nvPr/>
          </p:nvGrpSpPr>
          <p:grpSpPr>
            <a:xfrm>
              <a:off x="274489" y="2784871"/>
              <a:ext cx="2473751" cy="2349420"/>
              <a:chOff x="272340" y="2349000"/>
              <a:chExt cx="2473751" cy="2349420"/>
            </a:xfrm>
          </p:grpSpPr>
          <p:pic>
            <p:nvPicPr>
              <p:cNvPr id="7" name="グラフィックス 4">
                <a:extLst>
                  <a:ext uri="{FF2B5EF4-FFF2-40B4-BE49-F238E27FC236}">
                    <a16:creationId xmlns:a16="http://schemas.microsoft.com/office/drawing/2014/main" id="{BF5ED6C3-6B65-6BC0-1BD5-2A1B3E3BA3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272340" y="2349000"/>
                <a:ext cx="938486" cy="1080000"/>
              </a:xfrm>
              <a:custGeom>
                <a:avLst/>
                <a:gdLst>
                  <a:gd name="connsiteX0" fmla="*/ 201 w 5960698"/>
                  <a:gd name="connsiteY0" fmla="*/ 209 h 6859496"/>
                  <a:gd name="connsiteX1" fmla="*/ 5960900 w 5960698"/>
                  <a:gd name="connsiteY1" fmla="*/ 209 h 6859496"/>
                  <a:gd name="connsiteX2" fmla="*/ 5960900 w 5960698"/>
                  <a:gd name="connsiteY2" fmla="*/ 6859707 h 6859496"/>
                  <a:gd name="connsiteX3" fmla="*/ 201 w 5960698"/>
                  <a:gd name="connsiteY3" fmla="*/ 6859707 h 6859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960698" h="6859496">
                    <a:moveTo>
                      <a:pt x="201" y="209"/>
                    </a:moveTo>
                    <a:lnTo>
                      <a:pt x="5960900" y="209"/>
                    </a:lnTo>
                    <a:lnTo>
                      <a:pt x="5960900" y="6859707"/>
                    </a:lnTo>
                    <a:lnTo>
                      <a:pt x="201" y="6859707"/>
                    </a:lnTo>
                    <a:close/>
                  </a:path>
                </a:pathLst>
              </a:custGeom>
            </p:spPr>
          </p:pic>
          <p:pic>
            <p:nvPicPr>
              <p:cNvPr id="10" name="グラフィックス 8">
                <a:extLst>
                  <a:ext uri="{FF2B5EF4-FFF2-40B4-BE49-F238E27FC236}">
                    <a16:creationId xmlns:a16="http://schemas.microsoft.com/office/drawing/2014/main" id="{3F7B7CE8-51C1-FA01-B9A6-E4A02FF887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1407126" y="2889000"/>
                <a:ext cx="1269900" cy="540000"/>
              </a:xfrm>
              <a:custGeom>
                <a:avLst/>
                <a:gdLst>
                  <a:gd name="connsiteX0" fmla="*/ 270 w 12194661"/>
                  <a:gd name="connsiteY0" fmla="*/ 6 h 5185540"/>
                  <a:gd name="connsiteX1" fmla="*/ 12194931 w 12194661"/>
                  <a:gd name="connsiteY1" fmla="*/ 6 h 5185540"/>
                  <a:gd name="connsiteX2" fmla="*/ 12194931 w 12194661"/>
                  <a:gd name="connsiteY2" fmla="*/ 5185547 h 5185540"/>
                  <a:gd name="connsiteX3" fmla="*/ 270 w 12194661"/>
                  <a:gd name="connsiteY3" fmla="*/ 5185547 h 51855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94661" h="5185540">
                    <a:moveTo>
                      <a:pt x="270" y="6"/>
                    </a:moveTo>
                    <a:lnTo>
                      <a:pt x="12194931" y="6"/>
                    </a:lnTo>
                    <a:lnTo>
                      <a:pt x="12194931" y="5185547"/>
                    </a:lnTo>
                    <a:lnTo>
                      <a:pt x="270" y="5185547"/>
                    </a:lnTo>
                    <a:close/>
                  </a:path>
                </a:pathLst>
              </a:custGeom>
            </p:spPr>
          </p:pic>
          <p:pic>
            <p:nvPicPr>
              <p:cNvPr id="13" name="グラフィックス 11">
                <a:extLst>
                  <a:ext uri="{FF2B5EF4-FFF2-40B4-BE49-F238E27FC236}">
                    <a16:creationId xmlns:a16="http://schemas.microsoft.com/office/drawing/2014/main" id="{9A66BD66-9782-785E-047B-6213835DDC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FDFDFD"/>
                  </a:clrFrom>
                  <a:clrTo>
                    <a:srgbClr val="FDFDFD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 flipH="1">
                <a:off x="304875" y="3618420"/>
                <a:ext cx="889676" cy="1080000"/>
              </a:xfrm>
              <a:custGeom>
                <a:avLst/>
                <a:gdLst>
                  <a:gd name="connsiteX0" fmla="*/ 246 w 5648588"/>
                  <a:gd name="connsiteY0" fmla="*/ 270 h 6856949"/>
                  <a:gd name="connsiteX1" fmla="*/ 5648835 w 5648588"/>
                  <a:gd name="connsiteY1" fmla="*/ 270 h 6856949"/>
                  <a:gd name="connsiteX2" fmla="*/ 5648835 w 5648588"/>
                  <a:gd name="connsiteY2" fmla="*/ 6857219 h 6856949"/>
                  <a:gd name="connsiteX3" fmla="*/ 247 w 5648588"/>
                  <a:gd name="connsiteY3" fmla="*/ 6857219 h 6856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48588" h="6856949">
                    <a:moveTo>
                      <a:pt x="246" y="270"/>
                    </a:moveTo>
                    <a:lnTo>
                      <a:pt x="5648835" y="270"/>
                    </a:lnTo>
                    <a:lnTo>
                      <a:pt x="5648835" y="6857219"/>
                    </a:lnTo>
                    <a:lnTo>
                      <a:pt x="247" y="6857219"/>
                    </a:lnTo>
                    <a:close/>
                  </a:path>
                </a:pathLst>
              </a:custGeom>
            </p:spPr>
          </p:pic>
          <p:pic>
            <p:nvPicPr>
              <p:cNvPr id="16" name="グラフィックス 14">
                <a:extLst>
                  <a:ext uri="{FF2B5EF4-FFF2-40B4-BE49-F238E27FC236}">
                    <a16:creationId xmlns:a16="http://schemas.microsoft.com/office/drawing/2014/main" id="{63FC4C5A-7C0B-D457-41A7-AB6A733E8B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 flipH="1">
                <a:off x="1338061" y="3618420"/>
                <a:ext cx="1408030" cy="1080000"/>
              </a:xfrm>
              <a:custGeom>
                <a:avLst/>
                <a:gdLst>
                  <a:gd name="connsiteX0" fmla="*/ 265 w 8944784"/>
                  <a:gd name="connsiteY0" fmla="*/ 124 h 6860928"/>
                  <a:gd name="connsiteX1" fmla="*/ 8945049 w 8944784"/>
                  <a:gd name="connsiteY1" fmla="*/ 124 h 6860928"/>
                  <a:gd name="connsiteX2" fmla="*/ 8945049 w 8944784"/>
                  <a:gd name="connsiteY2" fmla="*/ 6861053 h 6860928"/>
                  <a:gd name="connsiteX3" fmla="*/ 265 w 8944784"/>
                  <a:gd name="connsiteY3" fmla="*/ 6861053 h 6860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944784" h="6860928">
                    <a:moveTo>
                      <a:pt x="265" y="124"/>
                    </a:moveTo>
                    <a:lnTo>
                      <a:pt x="8945049" y="124"/>
                    </a:lnTo>
                    <a:lnTo>
                      <a:pt x="8945049" y="6861053"/>
                    </a:lnTo>
                    <a:lnTo>
                      <a:pt x="265" y="6861053"/>
                    </a:lnTo>
                    <a:close/>
                  </a:path>
                </a:pathLst>
              </a:custGeom>
            </p:spPr>
          </p:pic>
        </p:grpSp>
        <p:sp>
          <p:nvSpPr>
            <p:cNvPr id="20" name="四角形: 角を丸くする 19">
              <a:extLst>
                <a:ext uri="{FF2B5EF4-FFF2-40B4-BE49-F238E27FC236}">
                  <a16:creationId xmlns:a16="http://schemas.microsoft.com/office/drawing/2014/main" id="{8DC00014-B0BF-4CF2-AB70-42249E950F1D}"/>
                </a:ext>
              </a:extLst>
            </p:cNvPr>
            <p:cNvSpPr/>
            <p:nvPr/>
          </p:nvSpPr>
          <p:spPr>
            <a:xfrm>
              <a:off x="161365" y="1790161"/>
              <a:ext cx="2700000" cy="900000"/>
            </a:xfrm>
            <a:prstGeom prst="roundRect">
              <a:avLst/>
            </a:prstGeom>
            <a:solidFill>
              <a:srgbClr val="FFC000">
                <a:alpha val="50000"/>
              </a:srgb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2800" b="1" dirty="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みんなの</a:t>
              </a:r>
              <a:endParaRPr kumimoji="1" lang="en-US" altLang="ja-JP" sz="2800" b="1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endParaRPr>
            </a:p>
            <a:p>
              <a:pPr algn="ctr"/>
              <a:r>
                <a:rPr lang="ja-JP" altLang="en-US" sz="2800" b="1" dirty="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エネルギー</a:t>
              </a:r>
              <a:endParaRPr kumimoji="1" lang="ja-JP" altLang="en-US" sz="2800" b="1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endParaRPr>
            </a:p>
          </p:txBody>
        </p:sp>
        <p:sp>
          <p:nvSpPr>
            <p:cNvPr id="21" name="矢印: 右 20">
              <a:extLst>
                <a:ext uri="{FF2B5EF4-FFF2-40B4-BE49-F238E27FC236}">
                  <a16:creationId xmlns:a16="http://schemas.microsoft.com/office/drawing/2014/main" id="{8E078194-38CF-A21E-5F80-DA3730E32273}"/>
                </a:ext>
              </a:extLst>
            </p:cNvPr>
            <p:cNvSpPr/>
            <p:nvPr/>
          </p:nvSpPr>
          <p:spPr>
            <a:xfrm>
              <a:off x="2946000" y="3239581"/>
              <a:ext cx="720000" cy="144000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2F036336-4FFD-7900-A6B4-D9A892A2C511}"/>
                </a:ext>
              </a:extLst>
            </p:cNvPr>
            <p:cNvSpPr txBox="1"/>
            <p:nvPr/>
          </p:nvSpPr>
          <p:spPr>
            <a:xfrm>
              <a:off x="611118" y="5323711"/>
              <a:ext cx="180049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800" b="1" dirty="0"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応援・運動</a:t>
              </a:r>
            </a:p>
          </p:txBody>
        </p:sp>
      </p:grp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694859C2-EBA0-FF6E-0D7A-A8C29590BFED}"/>
              </a:ext>
            </a:extLst>
          </p:cNvPr>
          <p:cNvGrpSpPr/>
          <p:nvPr/>
        </p:nvGrpSpPr>
        <p:grpSpPr>
          <a:xfrm>
            <a:off x="8526000" y="1197551"/>
            <a:ext cx="3660228" cy="5496015"/>
            <a:chOff x="8526000" y="1197551"/>
            <a:chExt cx="3660228" cy="5496015"/>
          </a:xfrm>
        </p:grpSpPr>
        <p:sp>
          <p:nvSpPr>
            <p:cNvPr id="28" name="矢印: 右 27">
              <a:extLst>
                <a:ext uri="{FF2B5EF4-FFF2-40B4-BE49-F238E27FC236}">
                  <a16:creationId xmlns:a16="http://schemas.microsoft.com/office/drawing/2014/main" id="{A7D17AD9-A302-DF4C-91F1-4CFD92B1CB6E}"/>
                </a:ext>
              </a:extLst>
            </p:cNvPr>
            <p:cNvSpPr/>
            <p:nvPr/>
          </p:nvSpPr>
          <p:spPr>
            <a:xfrm>
              <a:off x="8526000" y="3239581"/>
              <a:ext cx="720000" cy="144000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四角形: 角を丸くする 28">
              <a:extLst>
                <a:ext uri="{FF2B5EF4-FFF2-40B4-BE49-F238E27FC236}">
                  <a16:creationId xmlns:a16="http://schemas.microsoft.com/office/drawing/2014/main" id="{4679CE2B-A79B-CB2B-4DE3-BDCD7C55E73E}"/>
                </a:ext>
              </a:extLst>
            </p:cNvPr>
            <p:cNvSpPr/>
            <p:nvPr/>
          </p:nvSpPr>
          <p:spPr>
            <a:xfrm>
              <a:off x="9366112" y="1197551"/>
              <a:ext cx="2700000" cy="900000"/>
            </a:xfrm>
            <a:prstGeom prst="roundRect">
              <a:avLst/>
            </a:prstGeom>
            <a:solidFill>
              <a:srgbClr val="FFC000">
                <a:alpha val="50000"/>
              </a:srgb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2800" b="1" dirty="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座りすぎを</a:t>
              </a:r>
              <a:endParaRPr kumimoji="1" lang="en-US" altLang="ja-JP" sz="2800" b="1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endParaRPr>
            </a:p>
            <a:p>
              <a:pPr algn="ctr"/>
              <a:r>
                <a:rPr lang="ja-JP" altLang="en-US" sz="2800" b="1" dirty="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楽しさで解決！</a:t>
              </a:r>
              <a:endParaRPr kumimoji="1" lang="ja-JP" altLang="en-US" sz="2800" b="1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endParaRPr>
            </a:p>
          </p:txBody>
        </p:sp>
        <p:grpSp>
          <p:nvGrpSpPr>
            <p:cNvPr id="33" name="グループ化 32">
              <a:extLst>
                <a:ext uri="{FF2B5EF4-FFF2-40B4-BE49-F238E27FC236}">
                  <a16:creationId xmlns:a16="http://schemas.microsoft.com/office/drawing/2014/main" id="{DB210458-49F1-958B-F510-64A31AFD4895}"/>
                </a:ext>
              </a:extLst>
            </p:cNvPr>
            <p:cNvGrpSpPr/>
            <p:nvPr/>
          </p:nvGrpSpPr>
          <p:grpSpPr>
            <a:xfrm>
              <a:off x="9246000" y="2254291"/>
              <a:ext cx="2940228" cy="4439275"/>
              <a:chOff x="9246000" y="2254291"/>
              <a:chExt cx="2940228" cy="4439275"/>
            </a:xfrm>
          </p:grpSpPr>
          <p:pic>
            <p:nvPicPr>
              <p:cNvPr id="25" name="グラフィックス 23">
                <a:extLst>
                  <a:ext uri="{FF2B5EF4-FFF2-40B4-BE49-F238E27FC236}">
                    <a16:creationId xmlns:a16="http://schemas.microsoft.com/office/drawing/2014/main" id="{D310B0AD-9471-EE0A-52D8-2932C5FBD7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l="10557" t="24867" r="51360" b="22353"/>
              <a:stretch>
                <a:fillRect/>
              </a:stretch>
            </p:blipFill>
            <p:spPr>
              <a:xfrm>
                <a:off x="10066726" y="2254291"/>
                <a:ext cx="1298775" cy="1800000"/>
              </a:xfrm>
              <a:custGeom>
                <a:avLst/>
                <a:gdLst>
                  <a:gd name="connsiteX0" fmla="*/ 23 w 6856304"/>
                  <a:gd name="connsiteY0" fmla="*/ -16 h 6856304"/>
                  <a:gd name="connsiteX1" fmla="*/ 6856327 w 6856304"/>
                  <a:gd name="connsiteY1" fmla="*/ -16 h 6856304"/>
                  <a:gd name="connsiteX2" fmla="*/ 6856327 w 6856304"/>
                  <a:gd name="connsiteY2" fmla="*/ 6856289 h 6856304"/>
                  <a:gd name="connsiteX3" fmla="*/ 23 w 6856304"/>
                  <a:gd name="connsiteY3" fmla="*/ 6856289 h 68563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856304" h="6856304">
                    <a:moveTo>
                      <a:pt x="23" y="-16"/>
                    </a:moveTo>
                    <a:lnTo>
                      <a:pt x="6856327" y="-16"/>
                    </a:lnTo>
                    <a:lnTo>
                      <a:pt x="6856327" y="6856289"/>
                    </a:lnTo>
                    <a:lnTo>
                      <a:pt x="23" y="6856289"/>
                    </a:lnTo>
                    <a:close/>
                  </a:path>
                </a:pathLst>
              </a:custGeom>
            </p:spPr>
          </p:pic>
          <p:pic>
            <p:nvPicPr>
              <p:cNvPr id="27" name="グラフィックス 23">
                <a:extLst>
                  <a:ext uri="{FF2B5EF4-FFF2-40B4-BE49-F238E27FC236}">
                    <a16:creationId xmlns:a16="http://schemas.microsoft.com/office/drawing/2014/main" id="{1AD01100-6CF3-7CE5-7145-7E5124E17B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l="53920" t="24867" r="11228" b="22353"/>
              <a:stretch>
                <a:fillRect/>
              </a:stretch>
            </p:blipFill>
            <p:spPr>
              <a:xfrm>
                <a:off x="10121826" y="4662734"/>
                <a:ext cx="1188574" cy="1800000"/>
              </a:xfrm>
              <a:custGeom>
                <a:avLst/>
                <a:gdLst>
                  <a:gd name="connsiteX0" fmla="*/ 23 w 6856304"/>
                  <a:gd name="connsiteY0" fmla="*/ -16 h 6856304"/>
                  <a:gd name="connsiteX1" fmla="*/ 6856327 w 6856304"/>
                  <a:gd name="connsiteY1" fmla="*/ -16 h 6856304"/>
                  <a:gd name="connsiteX2" fmla="*/ 6856327 w 6856304"/>
                  <a:gd name="connsiteY2" fmla="*/ 6856289 h 6856304"/>
                  <a:gd name="connsiteX3" fmla="*/ 23 w 6856304"/>
                  <a:gd name="connsiteY3" fmla="*/ 6856289 h 68563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856304" h="6856304">
                    <a:moveTo>
                      <a:pt x="23" y="-16"/>
                    </a:moveTo>
                    <a:lnTo>
                      <a:pt x="6856327" y="-16"/>
                    </a:lnTo>
                    <a:lnTo>
                      <a:pt x="6856327" y="6856289"/>
                    </a:lnTo>
                    <a:lnTo>
                      <a:pt x="23" y="6856289"/>
                    </a:lnTo>
                    <a:close/>
                  </a:path>
                </a:pathLst>
              </a:custGeom>
            </p:spPr>
          </p:pic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504C5BC6-A3DA-F918-4DDB-1B79D9532005}"/>
                  </a:ext>
                </a:extLst>
              </p:cNvPr>
              <p:cNvSpPr txBox="1"/>
              <p:nvPr/>
            </p:nvSpPr>
            <p:spPr>
              <a:xfrm>
                <a:off x="9246000" y="3942330"/>
                <a:ext cx="294022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b="1" dirty="0"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強制スタンディング！</a:t>
                </a:r>
              </a:p>
            </p:txBody>
          </p:sp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20D4B0F6-7070-6FC9-8DB9-7060E7DB9070}"/>
                  </a:ext>
                </a:extLst>
              </p:cNvPr>
              <p:cNvSpPr txBox="1"/>
              <p:nvPr/>
            </p:nvSpPr>
            <p:spPr>
              <a:xfrm>
                <a:off x="9528127" y="6231901"/>
                <a:ext cx="23759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b="1" dirty="0"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マッチョな演出！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27595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ECC0E133-8BE9-0B67-603A-09450AAE5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先にゲージを満タンにしたチームが勝利！</a:t>
            </a:r>
            <a:endParaRPr kumimoji="1" lang="en-US" altLang="ja-JP" dirty="0"/>
          </a:p>
          <a:p>
            <a:pPr lvl="1"/>
            <a:r>
              <a:rPr lang="ja-JP" altLang="en-US" sz="2800" dirty="0"/>
              <a:t>競争心が，エネルギーをブーストする！</a:t>
            </a:r>
            <a:endParaRPr kumimoji="1" lang="ja-JP" altLang="en-US" sz="2800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D82275A7-9E36-8753-6D72-B71985862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そして，対戦形式へ！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DF674FA-C176-2351-E264-90396F2E3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9D727-202F-41E9-B9E9-EC03C40CD1DE}" type="slidenum">
              <a:rPr lang="ja-JP" altLang="en-US" smtClean="0"/>
              <a:pPr/>
              <a:t>4</a:t>
            </a:fld>
            <a:endParaRPr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C5BDF2C-D509-8642-6A99-6714B8383498}"/>
              </a:ext>
            </a:extLst>
          </p:cNvPr>
          <p:cNvSpPr txBox="1"/>
          <p:nvPr/>
        </p:nvSpPr>
        <p:spPr>
          <a:xfrm>
            <a:off x="5182929" y="3581333"/>
            <a:ext cx="182614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9600" b="1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VS</a:t>
            </a:r>
            <a:endParaRPr kumimoji="1" lang="ja-JP" altLang="en-US" sz="9600" b="1" dirty="0">
              <a:latin typeface="Arial" panose="020B0604020202020204" pitchFamily="34" charset="0"/>
              <a:ea typeface="ＭＳ Ｐゴシック" panose="020B0600070205080204" pitchFamily="50" charset="-128"/>
              <a:cs typeface="Arial" panose="020B0604020202020204" pitchFamily="34" charset="0"/>
            </a:endParaRPr>
          </a:p>
        </p:txBody>
      </p: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F1E300FC-35AB-F36C-1CAC-70F4A1574D1D}"/>
              </a:ext>
            </a:extLst>
          </p:cNvPr>
          <p:cNvGrpSpPr/>
          <p:nvPr/>
        </p:nvGrpSpPr>
        <p:grpSpPr>
          <a:xfrm>
            <a:off x="829033" y="5905585"/>
            <a:ext cx="4112850" cy="360000"/>
            <a:chOff x="772561" y="4280873"/>
            <a:chExt cx="4112850" cy="360000"/>
          </a:xfrm>
        </p:grpSpPr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33754458-28B0-D02A-B853-68AE44735015}"/>
                </a:ext>
              </a:extLst>
            </p:cNvPr>
            <p:cNvSpPr/>
            <p:nvPr/>
          </p:nvSpPr>
          <p:spPr>
            <a:xfrm>
              <a:off x="3600451" y="4280873"/>
              <a:ext cx="1124010" cy="360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AC4BF066-3C93-B97F-BC29-FCBEAD4AEF56}"/>
                </a:ext>
              </a:extLst>
            </p:cNvPr>
            <p:cNvSpPr/>
            <p:nvPr/>
          </p:nvSpPr>
          <p:spPr>
            <a:xfrm>
              <a:off x="949873" y="4280873"/>
              <a:ext cx="2650577" cy="360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円弧 12">
              <a:extLst>
                <a:ext uri="{FF2B5EF4-FFF2-40B4-BE49-F238E27FC236}">
                  <a16:creationId xmlns:a16="http://schemas.microsoft.com/office/drawing/2014/main" id="{FD3FC6CD-1998-33E7-717D-0752E447BA05}"/>
                </a:ext>
              </a:extLst>
            </p:cNvPr>
            <p:cNvSpPr/>
            <p:nvPr/>
          </p:nvSpPr>
          <p:spPr>
            <a:xfrm>
              <a:off x="4525411" y="4280873"/>
              <a:ext cx="360000" cy="360000"/>
            </a:xfrm>
            <a:prstGeom prst="arc">
              <a:avLst>
                <a:gd name="adj1" fmla="val 16200000"/>
                <a:gd name="adj2" fmla="val 5348694"/>
              </a:avLst>
            </a:prstGeom>
            <a:solidFill>
              <a:srgbClr val="C00000"/>
            </a:solidFill>
            <a:ln w="381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円弧 13">
              <a:extLst>
                <a:ext uri="{FF2B5EF4-FFF2-40B4-BE49-F238E27FC236}">
                  <a16:creationId xmlns:a16="http://schemas.microsoft.com/office/drawing/2014/main" id="{274ED23D-EC8A-F2DB-E8E2-73585D262F3D}"/>
                </a:ext>
              </a:extLst>
            </p:cNvPr>
            <p:cNvSpPr/>
            <p:nvPr/>
          </p:nvSpPr>
          <p:spPr>
            <a:xfrm rot="10800000">
              <a:off x="772561" y="4280873"/>
              <a:ext cx="360000" cy="360000"/>
            </a:xfrm>
            <a:prstGeom prst="arc">
              <a:avLst>
                <a:gd name="adj1" fmla="val 16200000"/>
                <a:gd name="adj2" fmla="val 5348694"/>
              </a:avLst>
            </a:prstGeom>
            <a:solidFill>
              <a:srgbClr val="FF0000"/>
            </a:solidFill>
            <a:ln w="381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6" name="直線コネクタ 15">
              <a:extLst>
                <a:ext uri="{FF2B5EF4-FFF2-40B4-BE49-F238E27FC236}">
                  <a16:creationId xmlns:a16="http://schemas.microsoft.com/office/drawing/2014/main" id="{46FAA201-7357-DA61-E663-E6830E76645C}"/>
                </a:ext>
              </a:extLst>
            </p:cNvPr>
            <p:cNvCxnSpPr>
              <a:cxnSpLocks/>
              <a:stCxn id="14" idx="2"/>
              <a:endCxn id="13" idx="0"/>
            </p:cNvCxnSpPr>
            <p:nvPr/>
          </p:nvCxnSpPr>
          <p:spPr>
            <a:xfrm flipV="1">
              <a:off x="949875" y="4280873"/>
              <a:ext cx="3755536" cy="20"/>
            </a:xfrm>
            <a:prstGeom prst="line">
              <a:avLst/>
            </a:prstGeom>
            <a:ln w="381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コネクタ 17">
              <a:extLst>
                <a:ext uri="{FF2B5EF4-FFF2-40B4-BE49-F238E27FC236}">
                  <a16:creationId xmlns:a16="http://schemas.microsoft.com/office/drawing/2014/main" id="{EE4BDEB6-2BD6-AA8B-C143-EB8DB2A4BD83}"/>
                </a:ext>
              </a:extLst>
            </p:cNvPr>
            <p:cNvCxnSpPr>
              <a:cxnSpLocks/>
              <a:stCxn id="14" idx="0"/>
              <a:endCxn id="13" idx="2"/>
            </p:cNvCxnSpPr>
            <p:nvPr/>
          </p:nvCxnSpPr>
          <p:spPr>
            <a:xfrm flipV="1">
              <a:off x="952561" y="4640853"/>
              <a:ext cx="3755536" cy="20"/>
            </a:xfrm>
            <a:prstGeom prst="line">
              <a:avLst/>
            </a:prstGeom>
            <a:ln w="381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66E42CEE-AD9B-09DA-9853-3EA3F846F6C7}"/>
              </a:ext>
            </a:extLst>
          </p:cNvPr>
          <p:cNvSpPr txBox="1"/>
          <p:nvPr/>
        </p:nvSpPr>
        <p:spPr>
          <a:xfrm>
            <a:off x="1332629" y="2270500"/>
            <a:ext cx="310565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6000" b="1" dirty="0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TEAM A</a:t>
            </a:r>
            <a:endParaRPr kumimoji="1" lang="ja-JP" altLang="en-US" sz="6000" b="1" dirty="0">
              <a:solidFill>
                <a:srgbClr val="FF0000"/>
              </a:solidFill>
              <a:latin typeface="Arial" panose="020B0604020202020204" pitchFamily="34" charset="0"/>
              <a:ea typeface="ＭＳ Ｐゴシック" panose="020B0600070205080204" pitchFamily="50" charset="-128"/>
              <a:cs typeface="Arial" panose="020B0604020202020204" pitchFamily="34" charset="0"/>
            </a:endParaRPr>
          </a:p>
        </p:txBody>
      </p:sp>
      <p:grpSp>
        <p:nvGrpSpPr>
          <p:cNvPr id="56" name="グループ化 55">
            <a:extLst>
              <a:ext uri="{FF2B5EF4-FFF2-40B4-BE49-F238E27FC236}">
                <a16:creationId xmlns:a16="http://schemas.microsoft.com/office/drawing/2014/main" id="{3B1143BD-0657-EA32-5D6A-8100E57E76FD}"/>
              </a:ext>
            </a:extLst>
          </p:cNvPr>
          <p:cNvGrpSpPr/>
          <p:nvPr/>
        </p:nvGrpSpPr>
        <p:grpSpPr>
          <a:xfrm>
            <a:off x="7370304" y="5905565"/>
            <a:ext cx="4112850" cy="360000"/>
            <a:chOff x="7370304" y="5905565"/>
            <a:chExt cx="4112850" cy="360000"/>
          </a:xfrm>
        </p:grpSpPr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F9EEA2B2-8787-14C4-C91C-EC9C772BF5D8}"/>
                </a:ext>
              </a:extLst>
            </p:cNvPr>
            <p:cNvSpPr/>
            <p:nvPr/>
          </p:nvSpPr>
          <p:spPr>
            <a:xfrm>
              <a:off x="9677242" y="5905565"/>
              <a:ext cx="1644962" cy="360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6D223EEA-6596-723F-1679-D2582B2A809F}"/>
                </a:ext>
              </a:extLst>
            </p:cNvPr>
            <p:cNvSpPr/>
            <p:nvPr/>
          </p:nvSpPr>
          <p:spPr>
            <a:xfrm>
              <a:off x="7547617" y="5905565"/>
              <a:ext cx="2129625" cy="360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" name="円弧 33">
              <a:extLst>
                <a:ext uri="{FF2B5EF4-FFF2-40B4-BE49-F238E27FC236}">
                  <a16:creationId xmlns:a16="http://schemas.microsoft.com/office/drawing/2014/main" id="{2C5F4F53-30ED-8531-595F-34972C48464C}"/>
                </a:ext>
              </a:extLst>
            </p:cNvPr>
            <p:cNvSpPr/>
            <p:nvPr/>
          </p:nvSpPr>
          <p:spPr>
            <a:xfrm>
              <a:off x="11123154" y="5905565"/>
              <a:ext cx="360000" cy="360000"/>
            </a:xfrm>
            <a:prstGeom prst="arc">
              <a:avLst>
                <a:gd name="adj1" fmla="val 16200000"/>
                <a:gd name="adj2" fmla="val 5348694"/>
              </a:avLst>
            </a:prstGeom>
            <a:solidFill>
              <a:srgbClr val="0070C0"/>
            </a:solidFill>
            <a:ln w="38100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" name="円弧 34">
              <a:extLst>
                <a:ext uri="{FF2B5EF4-FFF2-40B4-BE49-F238E27FC236}">
                  <a16:creationId xmlns:a16="http://schemas.microsoft.com/office/drawing/2014/main" id="{43327582-336F-21AD-B969-33F44CD2A0F9}"/>
                </a:ext>
              </a:extLst>
            </p:cNvPr>
            <p:cNvSpPr/>
            <p:nvPr/>
          </p:nvSpPr>
          <p:spPr>
            <a:xfrm rot="10800000">
              <a:off x="7370304" y="5905565"/>
              <a:ext cx="360000" cy="360000"/>
            </a:xfrm>
            <a:prstGeom prst="arc">
              <a:avLst>
                <a:gd name="adj1" fmla="val 16200000"/>
                <a:gd name="adj2" fmla="val 5348694"/>
              </a:avLst>
            </a:prstGeom>
            <a:solidFill>
              <a:srgbClr val="00B0F0"/>
            </a:solidFill>
            <a:ln w="38100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36" name="直線コネクタ 35">
              <a:extLst>
                <a:ext uri="{FF2B5EF4-FFF2-40B4-BE49-F238E27FC236}">
                  <a16:creationId xmlns:a16="http://schemas.microsoft.com/office/drawing/2014/main" id="{956CD585-B3B9-834A-157E-E35F78941F81}"/>
                </a:ext>
              </a:extLst>
            </p:cNvPr>
            <p:cNvCxnSpPr>
              <a:cxnSpLocks/>
              <a:stCxn id="35" idx="2"/>
              <a:endCxn id="34" idx="0"/>
            </p:cNvCxnSpPr>
            <p:nvPr/>
          </p:nvCxnSpPr>
          <p:spPr>
            <a:xfrm flipV="1">
              <a:off x="7547618" y="5905565"/>
              <a:ext cx="3755536" cy="20"/>
            </a:xfrm>
            <a:prstGeom prst="line">
              <a:avLst/>
            </a:prstGeom>
            <a:ln w="38100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コネクタ 36">
              <a:extLst>
                <a:ext uri="{FF2B5EF4-FFF2-40B4-BE49-F238E27FC236}">
                  <a16:creationId xmlns:a16="http://schemas.microsoft.com/office/drawing/2014/main" id="{C96DF34C-6A73-BF59-BAA7-ECC410EF8BD0}"/>
                </a:ext>
              </a:extLst>
            </p:cNvPr>
            <p:cNvCxnSpPr>
              <a:cxnSpLocks/>
              <a:stCxn id="35" idx="0"/>
              <a:endCxn id="34" idx="2"/>
            </p:cNvCxnSpPr>
            <p:nvPr/>
          </p:nvCxnSpPr>
          <p:spPr>
            <a:xfrm flipV="1">
              <a:off x="7550304" y="6265545"/>
              <a:ext cx="3755536" cy="20"/>
            </a:xfrm>
            <a:prstGeom prst="line">
              <a:avLst/>
            </a:prstGeom>
            <a:ln w="38100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6C62EC23-8345-35CF-E1F4-147DE2AD33BE}"/>
              </a:ext>
            </a:extLst>
          </p:cNvPr>
          <p:cNvSpPr txBox="1"/>
          <p:nvPr/>
        </p:nvSpPr>
        <p:spPr>
          <a:xfrm>
            <a:off x="7872557" y="2270499"/>
            <a:ext cx="313419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6000" b="1" dirty="0">
                <a:solidFill>
                  <a:srgbClr val="0070C0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TEAM B</a:t>
            </a:r>
            <a:endParaRPr kumimoji="1" lang="ja-JP" altLang="en-US" sz="6000" b="1" dirty="0">
              <a:solidFill>
                <a:srgbClr val="0070C0"/>
              </a:solidFill>
              <a:latin typeface="Arial" panose="020B0604020202020204" pitchFamily="34" charset="0"/>
              <a:ea typeface="ＭＳ Ｐゴシック" panose="020B0600070205080204" pitchFamily="50" charset="-128"/>
              <a:cs typeface="Arial" panose="020B0604020202020204" pitchFamily="34" charset="0"/>
            </a:endParaRPr>
          </a:p>
        </p:txBody>
      </p: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B16CC33A-C2E7-0DAF-960B-6814C51FF9A5}"/>
              </a:ext>
            </a:extLst>
          </p:cNvPr>
          <p:cNvGrpSpPr/>
          <p:nvPr/>
        </p:nvGrpSpPr>
        <p:grpSpPr>
          <a:xfrm>
            <a:off x="1644063" y="3286163"/>
            <a:ext cx="2473751" cy="2349420"/>
            <a:chOff x="272340" y="2349000"/>
            <a:chExt cx="2473751" cy="2349420"/>
          </a:xfrm>
        </p:grpSpPr>
        <p:pic>
          <p:nvPicPr>
            <p:cNvPr id="45" name="グラフィックス 4">
              <a:extLst>
                <a:ext uri="{FF2B5EF4-FFF2-40B4-BE49-F238E27FC236}">
                  <a16:creationId xmlns:a16="http://schemas.microsoft.com/office/drawing/2014/main" id="{F1E280CB-8F9F-AE4D-C4BF-53CE6A1CAE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72340" y="2349000"/>
              <a:ext cx="938486" cy="1080000"/>
            </a:xfrm>
            <a:custGeom>
              <a:avLst/>
              <a:gdLst>
                <a:gd name="connsiteX0" fmla="*/ 201 w 5960698"/>
                <a:gd name="connsiteY0" fmla="*/ 209 h 6859496"/>
                <a:gd name="connsiteX1" fmla="*/ 5960900 w 5960698"/>
                <a:gd name="connsiteY1" fmla="*/ 209 h 6859496"/>
                <a:gd name="connsiteX2" fmla="*/ 5960900 w 5960698"/>
                <a:gd name="connsiteY2" fmla="*/ 6859707 h 6859496"/>
                <a:gd name="connsiteX3" fmla="*/ 201 w 5960698"/>
                <a:gd name="connsiteY3" fmla="*/ 6859707 h 6859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60698" h="6859496">
                  <a:moveTo>
                    <a:pt x="201" y="209"/>
                  </a:moveTo>
                  <a:lnTo>
                    <a:pt x="5960900" y="209"/>
                  </a:lnTo>
                  <a:lnTo>
                    <a:pt x="5960900" y="6859707"/>
                  </a:lnTo>
                  <a:lnTo>
                    <a:pt x="201" y="6859707"/>
                  </a:lnTo>
                  <a:close/>
                </a:path>
              </a:pathLst>
            </a:custGeom>
          </p:spPr>
        </p:pic>
        <p:pic>
          <p:nvPicPr>
            <p:cNvPr id="46" name="グラフィックス 8">
              <a:extLst>
                <a:ext uri="{FF2B5EF4-FFF2-40B4-BE49-F238E27FC236}">
                  <a16:creationId xmlns:a16="http://schemas.microsoft.com/office/drawing/2014/main" id="{E69DF2B7-54E1-7E8D-D745-81F8F7D82F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407126" y="2889000"/>
              <a:ext cx="1269900" cy="540000"/>
            </a:xfrm>
            <a:custGeom>
              <a:avLst/>
              <a:gdLst>
                <a:gd name="connsiteX0" fmla="*/ 270 w 12194661"/>
                <a:gd name="connsiteY0" fmla="*/ 6 h 5185540"/>
                <a:gd name="connsiteX1" fmla="*/ 12194931 w 12194661"/>
                <a:gd name="connsiteY1" fmla="*/ 6 h 5185540"/>
                <a:gd name="connsiteX2" fmla="*/ 12194931 w 12194661"/>
                <a:gd name="connsiteY2" fmla="*/ 5185547 h 5185540"/>
                <a:gd name="connsiteX3" fmla="*/ 270 w 12194661"/>
                <a:gd name="connsiteY3" fmla="*/ 5185547 h 5185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4661" h="5185540">
                  <a:moveTo>
                    <a:pt x="270" y="6"/>
                  </a:moveTo>
                  <a:lnTo>
                    <a:pt x="12194931" y="6"/>
                  </a:lnTo>
                  <a:lnTo>
                    <a:pt x="12194931" y="5185547"/>
                  </a:lnTo>
                  <a:lnTo>
                    <a:pt x="270" y="5185547"/>
                  </a:lnTo>
                  <a:close/>
                </a:path>
              </a:pathLst>
            </a:custGeom>
          </p:spPr>
        </p:pic>
        <p:pic>
          <p:nvPicPr>
            <p:cNvPr id="47" name="グラフィックス 11">
              <a:extLst>
                <a:ext uri="{FF2B5EF4-FFF2-40B4-BE49-F238E27FC236}">
                  <a16:creationId xmlns:a16="http://schemas.microsoft.com/office/drawing/2014/main" id="{389F1B1E-DAAD-9E92-144A-4FC5318348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DFDFD"/>
                </a:clrFrom>
                <a:clrTo>
                  <a:srgbClr val="FDFDFD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flipH="1">
              <a:off x="304875" y="3618420"/>
              <a:ext cx="889676" cy="1080000"/>
            </a:xfrm>
            <a:custGeom>
              <a:avLst/>
              <a:gdLst>
                <a:gd name="connsiteX0" fmla="*/ 246 w 5648588"/>
                <a:gd name="connsiteY0" fmla="*/ 270 h 6856949"/>
                <a:gd name="connsiteX1" fmla="*/ 5648835 w 5648588"/>
                <a:gd name="connsiteY1" fmla="*/ 270 h 6856949"/>
                <a:gd name="connsiteX2" fmla="*/ 5648835 w 5648588"/>
                <a:gd name="connsiteY2" fmla="*/ 6857219 h 6856949"/>
                <a:gd name="connsiteX3" fmla="*/ 247 w 5648588"/>
                <a:gd name="connsiteY3" fmla="*/ 6857219 h 6856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8588" h="6856949">
                  <a:moveTo>
                    <a:pt x="246" y="270"/>
                  </a:moveTo>
                  <a:lnTo>
                    <a:pt x="5648835" y="270"/>
                  </a:lnTo>
                  <a:lnTo>
                    <a:pt x="5648835" y="6857219"/>
                  </a:lnTo>
                  <a:lnTo>
                    <a:pt x="247" y="6857219"/>
                  </a:lnTo>
                  <a:close/>
                </a:path>
              </a:pathLst>
            </a:custGeom>
          </p:spPr>
        </p:pic>
        <p:pic>
          <p:nvPicPr>
            <p:cNvPr id="48" name="グラフィックス 14">
              <a:extLst>
                <a:ext uri="{FF2B5EF4-FFF2-40B4-BE49-F238E27FC236}">
                  <a16:creationId xmlns:a16="http://schemas.microsoft.com/office/drawing/2014/main" id="{0C5B7CB7-8A7B-DD03-0A0F-2565D2E6ED4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flipH="1">
              <a:off x="1338061" y="3618420"/>
              <a:ext cx="1408030" cy="1080000"/>
            </a:xfrm>
            <a:custGeom>
              <a:avLst/>
              <a:gdLst>
                <a:gd name="connsiteX0" fmla="*/ 265 w 8944784"/>
                <a:gd name="connsiteY0" fmla="*/ 124 h 6860928"/>
                <a:gd name="connsiteX1" fmla="*/ 8945049 w 8944784"/>
                <a:gd name="connsiteY1" fmla="*/ 124 h 6860928"/>
                <a:gd name="connsiteX2" fmla="*/ 8945049 w 8944784"/>
                <a:gd name="connsiteY2" fmla="*/ 6861053 h 6860928"/>
                <a:gd name="connsiteX3" fmla="*/ 265 w 8944784"/>
                <a:gd name="connsiteY3" fmla="*/ 6861053 h 6860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44784" h="6860928">
                  <a:moveTo>
                    <a:pt x="265" y="124"/>
                  </a:moveTo>
                  <a:lnTo>
                    <a:pt x="8945049" y="124"/>
                  </a:lnTo>
                  <a:lnTo>
                    <a:pt x="8945049" y="6861053"/>
                  </a:lnTo>
                  <a:lnTo>
                    <a:pt x="265" y="6861053"/>
                  </a:lnTo>
                  <a:close/>
                </a:path>
              </a:pathLst>
            </a:custGeom>
          </p:spPr>
        </p:pic>
      </p:grpSp>
      <p:grpSp>
        <p:nvGrpSpPr>
          <p:cNvPr id="49" name="グループ化 48">
            <a:extLst>
              <a:ext uri="{FF2B5EF4-FFF2-40B4-BE49-F238E27FC236}">
                <a16:creationId xmlns:a16="http://schemas.microsoft.com/office/drawing/2014/main" id="{B73A9A1F-07A4-365F-8072-F0E11B2C4B5E}"/>
              </a:ext>
            </a:extLst>
          </p:cNvPr>
          <p:cNvGrpSpPr/>
          <p:nvPr/>
        </p:nvGrpSpPr>
        <p:grpSpPr>
          <a:xfrm>
            <a:off x="8202776" y="3286163"/>
            <a:ext cx="2473751" cy="2349420"/>
            <a:chOff x="272340" y="2349000"/>
            <a:chExt cx="2473751" cy="2349420"/>
          </a:xfrm>
        </p:grpSpPr>
        <p:pic>
          <p:nvPicPr>
            <p:cNvPr id="50" name="グラフィックス 4">
              <a:extLst>
                <a:ext uri="{FF2B5EF4-FFF2-40B4-BE49-F238E27FC236}">
                  <a16:creationId xmlns:a16="http://schemas.microsoft.com/office/drawing/2014/main" id="{291194AB-71DB-A688-015B-F36C9CF1E0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72340" y="2349000"/>
              <a:ext cx="938486" cy="1080000"/>
            </a:xfrm>
            <a:custGeom>
              <a:avLst/>
              <a:gdLst>
                <a:gd name="connsiteX0" fmla="*/ 201 w 5960698"/>
                <a:gd name="connsiteY0" fmla="*/ 209 h 6859496"/>
                <a:gd name="connsiteX1" fmla="*/ 5960900 w 5960698"/>
                <a:gd name="connsiteY1" fmla="*/ 209 h 6859496"/>
                <a:gd name="connsiteX2" fmla="*/ 5960900 w 5960698"/>
                <a:gd name="connsiteY2" fmla="*/ 6859707 h 6859496"/>
                <a:gd name="connsiteX3" fmla="*/ 201 w 5960698"/>
                <a:gd name="connsiteY3" fmla="*/ 6859707 h 6859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60698" h="6859496">
                  <a:moveTo>
                    <a:pt x="201" y="209"/>
                  </a:moveTo>
                  <a:lnTo>
                    <a:pt x="5960900" y="209"/>
                  </a:lnTo>
                  <a:lnTo>
                    <a:pt x="5960900" y="6859707"/>
                  </a:lnTo>
                  <a:lnTo>
                    <a:pt x="201" y="6859707"/>
                  </a:lnTo>
                  <a:close/>
                </a:path>
              </a:pathLst>
            </a:custGeom>
          </p:spPr>
        </p:pic>
        <p:pic>
          <p:nvPicPr>
            <p:cNvPr id="51" name="グラフィックス 8">
              <a:extLst>
                <a:ext uri="{FF2B5EF4-FFF2-40B4-BE49-F238E27FC236}">
                  <a16:creationId xmlns:a16="http://schemas.microsoft.com/office/drawing/2014/main" id="{9715EAD7-5681-FB03-9FA1-DA94526C47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407126" y="2889000"/>
              <a:ext cx="1269900" cy="540000"/>
            </a:xfrm>
            <a:custGeom>
              <a:avLst/>
              <a:gdLst>
                <a:gd name="connsiteX0" fmla="*/ 270 w 12194661"/>
                <a:gd name="connsiteY0" fmla="*/ 6 h 5185540"/>
                <a:gd name="connsiteX1" fmla="*/ 12194931 w 12194661"/>
                <a:gd name="connsiteY1" fmla="*/ 6 h 5185540"/>
                <a:gd name="connsiteX2" fmla="*/ 12194931 w 12194661"/>
                <a:gd name="connsiteY2" fmla="*/ 5185547 h 5185540"/>
                <a:gd name="connsiteX3" fmla="*/ 270 w 12194661"/>
                <a:gd name="connsiteY3" fmla="*/ 5185547 h 5185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4661" h="5185540">
                  <a:moveTo>
                    <a:pt x="270" y="6"/>
                  </a:moveTo>
                  <a:lnTo>
                    <a:pt x="12194931" y="6"/>
                  </a:lnTo>
                  <a:lnTo>
                    <a:pt x="12194931" y="5185547"/>
                  </a:lnTo>
                  <a:lnTo>
                    <a:pt x="270" y="5185547"/>
                  </a:lnTo>
                  <a:close/>
                </a:path>
              </a:pathLst>
            </a:custGeom>
          </p:spPr>
        </p:pic>
        <p:pic>
          <p:nvPicPr>
            <p:cNvPr id="52" name="グラフィックス 11">
              <a:extLst>
                <a:ext uri="{FF2B5EF4-FFF2-40B4-BE49-F238E27FC236}">
                  <a16:creationId xmlns:a16="http://schemas.microsoft.com/office/drawing/2014/main" id="{88E4ED37-7221-3780-2B30-1E349D407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DFDFD"/>
                </a:clrFrom>
                <a:clrTo>
                  <a:srgbClr val="FDFDFD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flipH="1">
              <a:off x="304875" y="3618420"/>
              <a:ext cx="889676" cy="1080000"/>
            </a:xfrm>
            <a:custGeom>
              <a:avLst/>
              <a:gdLst>
                <a:gd name="connsiteX0" fmla="*/ 246 w 5648588"/>
                <a:gd name="connsiteY0" fmla="*/ 270 h 6856949"/>
                <a:gd name="connsiteX1" fmla="*/ 5648835 w 5648588"/>
                <a:gd name="connsiteY1" fmla="*/ 270 h 6856949"/>
                <a:gd name="connsiteX2" fmla="*/ 5648835 w 5648588"/>
                <a:gd name="connsiteY2" fmla="*/ 6857219 h 6856949"/>
                <a:gd name="connsiteX3" fmla="*/ 247 w 5648588"/>
                <a:gd name="connsiteY3" fmla="*/ 6857219 h 6856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8588" h="6856949">
                  <a:moveTo>
                    <a:pt x="246" y="270"/>
                  </a:moveTo>
                  <a:lnTo>
                    <a:pt x="5648835" y="270"/>
                  </a:lnTo>
                  <a:lnTo>
                    <a:pt x="5648835" y="6857219"/>
                  </a:lnTo>
                  <a:lnTo>
                    <a:pt x="247" y="6857219"/>
                  </a:lnTo>
                  <a:close/>
                </a:path>
              </a:pathLst>
            </a:custGeom>
          </p:spPr>
        </p:pic>
        <p:pic>
          <p:nvPicPr>
            <p:cNvPr id="53" name="グラフィックス 14">
              <a:extLst>
                <a:ext uri="{FF2B5EF4-FFF2-40B4-BE49-F238E27FC236}">
                  <a16:creationId xmlns:a16="http://schemas.microsoft.com/office/drawing/2014/main" id="{0005A71D-3B61-A39E-54EA-CE9F4357B83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flipH="1">
              <a:off x="1338061" y="3618420"/>
              <a:ext cx="1408030" cy="1080000"/>
            </a:xfrm>
            <a:custGeom>
              <a:avLst/>
              <a:gdLst>
                <a:gd name="connsiteX0" fmla="*/ 265 w 8944784"/>
                <a:gd name="connsiteY0" fmla="*/ 124 h 6860928"/>
                <a:gd name="connsiteX1" fmla="*/ 8945049 w 8944784"/>
                <a:gd name="connsiteY1" fmla="*/ 124 h 6860928"/>
                <a:gd name="connsiteX2" fmla="*/ 8945049 w 8944784"/>
                <a:gd name="connsiteY2" fmla="*/ 6861053 h 6860928"/>
                <a:gd name="connsiteX3" fmla="*/ 265 w 8944784"/>
                <a:gd name="connsiteY3" fmla="*/ 6861053 h 6860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44784" h="6860928">
                  <a:moveTo>
                    <a:pt x="265" y="124"/>
                  </a:moveTo>
                  <a:lnTo>
                    <a:pt x="8945049" y="124"/>
                  </a:lnTo>
                  <a:lnTo>
                    <a:pt x="8945049" y="6861053"/>
                  </a:lnTo>
                  <a:lnTo>
                    <a:pt x="265" y="6861053"/>
                  </a:ln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3612221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539C2822-5CA5-2CB2-74B0-8AB2D9233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こだわりのシステム構成（入力層）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A0C3B24-6A53-767B-6619-B1D0BF2AC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9D727-202F-41E9-B9E9-EC03C40CD1DE}" type="slidenum">
              <a:rPr lang="ja-JP" altLang="en-US" smtClean="0"/>
              <a:pPr/>
              <a:t>5</a:t>
            </a:fld>
            <a:endParaRPr lang="ja-JP" altLang="en-US" dirty="0"/>
          </a:p>
        </p:txBody>
      </p:sp>
      <p:pic>
        <p:nvPicPr>
          <p:cNvPr id="5" name="グラフィックス 11">
            <a:extLst>
              <a:ext uri="{FF2B5EF4-FFF2-40B4-BE49-F238E27FC236}">
                <a16:creationId xmlns:a16="http://schemas.microsoft.com/office/drawing/2014/main" id="{B44BA58B-478C-1306-CC07-BE923DA0826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93633" y="3204852"/>
            <a:ext cx="2404733" cy="1800000"/>
          </a:xfrm>
          <a:custGeom>
            <a:avLst/>
            <a:gdLst>
              <a:gd name="connsiteX0" fmla="*/ -23 w 6108011"/>
              <a:gd name="connsiteY0" fmla="*/ -95 h 4572000"/>
              <a:gd name="connsiteX1" fmla="*/ 6107989 w 6108011"/>
              <a:gd name="connsiteY1" fmla="*/ -95 h 4572000"/>
              <a:gd name="connsiteX2" fmla="*/ 6107989 w 6108011"/>
              <a:gd name="connsiteY2" fmla="*/ 4571905 h 4572000"/>
              <a:gd name="connsiteX3" fmla="*/ -23 w 6108011"/>
              <a:gd name="connsiteY3" fmla="*/ 4571905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08011" h="4572000">
                <a:moveTo>
                  <a:pt x="-23" y="-95"/>
                </a:moveTo>
                <a:lnTo>
                  <a:pt x="6107989" y="-95"/>
                </a:lnTo>
                <a:lnTo>
                  <a:pt x="6107989" y="4571905"/>
                </a:lnTo>
                <a:lnTo>
                  <a:pt x="-23" y="4571905"/>
                </a:lnTo>
                <a:close/>
              </a:path>
            </a:pathLst>
          </a:custGeom>
        </p:spPr>
      </p:pic>
      <p:pic>
        <p:nvPicPr>
          <p:cNvPr id="6" name="グラフィックス 16">
            <a:extLst>
              <a:ext uri="{FF2B5EF4-FFF2-40B4-BE49-F238E27FC236}">
                <a16:creationId xmlns:a16="http://schemas.microsoft.com/office/drawing/2014/main" id="{603CD1A5-8A0B-4675-7F19-693D7E3CA71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306317" y="3024852"/>
            <a:ext cx="2885683" cy="2160000"/>
          </a:xfrm>
          <a:custGeom>
            <a:avLst/>
            <a:gdLst>
              <a:gd name="connsiteX0" fmla="*/ -21 w 6108011"/>
              <a:gd name="connsiteY0" fmla="*/ -94 h 4572000"/>
              <a:gd name="connsiteX1" fmla="*/ 6107991 w 6108011"/>
              <a:gd name="connsiteY1" fmla="*/ -94 h 4572000"/>
              <a:gd name="connsiteX2" fmla="*/ 6107991 w 6108011"/>
              <a:gd name="connsiteY2" fmla="*/ 4571906 h 4572000"/>
              <a:gd name="connsiteX3" fmla="*/ -21 w 6108011"/>
              <a:gd name="connsiteY3" fmla="*/ 4571906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08011" h="4572000">
                <a:moveTo>
                  <a:pt x="-21" y="-94"/>
                </a:moveTo>
                <a:lnTo>
                  <a:pt x="6107991" y="-94"/>
                </a:lnTo>
                <a:lnTo>
                  <a:pt x="6107991" y="4571906"/>
                </a:lnTo>
                <a:lnTo>
                  <a:pt x="-21" y="4571906"/>
                </a:lnTo>
                <a:close/>
              </a:path>
            </a:pathLst>
          </a:cu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04FD37A-54BE-86C5-506F-CF47D34280F8}"/>
              </a:ext>
            </a:extLst>
          </p:cNvPr>
          <p:cNvSpPr txBox="1"/>
          <p:nvPr/>
        </p:nvSpPr>
        <p:spPr>
          <a:xfrm>
            <a:off x="9808835" y="4839674"/>
            <a:ext cx="18806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Raspberry Pi 4</a:t>
            </a:r>
            <a:endParaRPr kumimoji="1" lang="ja-JP" altLang="en-US" sz="2000" dirty="0">
              <a:latin typeface="Arial" panose="020B0604020202020204" pitchFamily="34" charset="0"/>
              <a:ea typeface="ＭＳ Ｐゴシック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30FDC5F-EEB8-BF19-81E2-647E4B3898F9}"/>
              </a:ext>
            </a:extLst>
          </p:cNvPr>
          <p:cNvSpPr txBox="1"/>
          <p:nvPr/>
        </p:nvSpPr>
        <p:spPr>
          <a:xfrm>
            <a:off x="4963317" y="4839674"/>
            <a:ext cx="2265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Raspberry Pi Zero</a:t>
            </a:r>
            <a:endParaRPr kumimoji="1" lang="ja-JP" altLang="en-US" sz="2000" dirty="0">
              <a:latin typeface="Arial" panose="020B0604020202020204" pitchFamily="34" charset="0"/>
              <a:ea typeface="ＭＳ Ｐゴシック" panose="020B0600070205080204" pitchFamily="50" charset="-128"/>
              <a:cs typeface="Arial" panose="020B0604020202020204" pitchFamily="34" charset="0"/>
            </a:endParaRPr>
          </a:p>
        </p:txBody>
      </p:sp>
      <p:pic>
        <p:nvPicPr>
          <p:cNvPr id="10" name="グラフィックス 4">
            <a:extLst>
              <a:ext uri="{FF2B5EF4-FFF2-40B4-BE49-F238E27FC236}">
                <a16:creationId xmlns:a16="http://schemas.microsoft.com/office/drawing/2014/main" id="{A673AF6B-08C7-528B-BE93-296F7423B68A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5717" y="1975068"/>
            <a:ext cx="938486" cy="1080000"/>
          </a:xfrm>
          <a:custGeom>
            <a:avLst/>
            <a:gdLst>
              <a:gd name="connsiteX0" fmla="*/ 201 w 5960698"/>
              <a:gd name="connsiteY0" fmla="*/ 209 h 6859496"/>
              <a:gd name="connsiteX1" fmla="*/ 5960900 w 5960698"/>
              <a:gd name="connsiteY1" fmla="*/ 209 h 6859496"/>
              <a:gd name="connsiteX2" fmla="*/ 5960900 w 5960698"/>
              <a:gd name="connsiteY2" fmla="*/ 6859707 h 6859496"/>
              <a:gd name="connsiteX3" fmla="*/ 201 w 5960698"/>
              <a:gd name="connsiteY3" fmla="*/ 6859707 h 685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60698" h="6859496">
                <a:moveTo>
                  <a:pt x="201" y="209"/>
                </a:moveTo>
                <a:lnTo>
                  <a:pt x="5960900" y="209"/>
                </a:lnTo>
                <a:lnTo>
                  <a:pt x="5960900" y="6859707"/>
                </a:lnTo>
                <a:lnTo>
                  <a:pt x="201" y="6859707"/>
                </a:lnTo>
                <a:close/>
              </a:path>
            </a:pathLst>
          </a:custGeom>
        </p:spPr>
      </p:pic>
      <p:pic>
        <p:nvPicPr>
          <p:cNvPr id="11" name="グラフィックス 8">
            <a:extLst>
              <a:ext uri="{FF2B5EF4-FFF2-40B4-BE49-F238E27FC236}">
                <a16:creationId xmlns:a16="http://schemas.microsoft.com/office/drawing/2014/main" id="{BFF638D1-52DC-5B13-7A72-A8C89C933F0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0010" y="3304871"/>
            <a:ext cx="1269900" cy="540000"/>
          </a:xfrm>
          <a:custGeom>
            <a:avLst/>
            <a:gdLst>
              <a:gd name="connsiteX0" fmla="*/ 270 w 12194661"/>
              <a:gd name="connsiteY0" fmla="*/ 6 h 5185540"/>
              <a:gd name="connsiteX1" fmla="*/ 12194931 w 12194661"/>
              <a:gd name="connsiteY1" fmla="*/ 6 h 5185540"/>
              <a:gd name="connsiteX2" fmla="*/ 12194931 w 12194661"/>
              <a:gd name="connsiteY2" fmla="*/ 5185547 h 5185540"/>
              <a:gd name="connsiteX3" fmla="*/ 270 w 12194661"/>
              <a:gd name="connsiteY3" fmla="*/ 5185547 h 518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4661" h="5185540">
                <a:moveTo>
                  <a:pt x="270" y="6"/>
                </a:moveTo>
                <a:lnTo>
                  <a:pt x="12194931" y="6"/>
                </a:lnTo>
                <a:lnTo>
                  <a:pt x="12194931" y="5185547"/>
                </a:lnTo>
                <a:lnTo>
                  <a:pt x="270" y="5185547"/>
                </a:lnTo>
                <a:close/>
              </a:path>
            </a:pathLst>
          </a:custGeom>
        </p:spPr>
      </p:pic>
      <p:pic>
        <p:nvPicPr>
          <p:cNvPr id="12" name="グラフィックス 11">
            <a:extLst>
              <a:ext uri="{FF2B5EF4-FFF2-40B4-BE49-F238E27FC236}">
                <a16:creationId xmlns:a16="http://schemas.microsoft.com/office/drawing/2014/main" id="{A9D4F0A4-52AD-33B8-68A8-852F8A67DB78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1030122" y="4094833"/>
            <a:ext cx="889676" cy="1080000"/>
          </a:xfrm>
          <a:custGeom>
            <a:avLst/>
            <a:gdLst>
              <a:gd name="connsiteX0" fmla="*/ 246 w 5648588"/>
              <a:gd name="connsiteY0" fmla="*/ 270 h 6856949"/>
              <a:gd name="connsiteX1" fmla="*/ 5648835 w 5648588"/>
              <a:gd name="connsiteY1" fmla="*/ 270 h 6856949"/>
              <a:gd name="connsiteX2" fmla="*/ 5648835 w 5648588"/>
              <a:gd name="connsiteY2" fmla="*/ 6857219 h 6856949"/>
              <a:gd name="connsiteX3" fmla="*/ 247 w 5648588"/>
              <a:gd name="connsiteY3" fmla="*/ 6857219 h 6856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48588" h="6856949">
                <a:moveTo>
                  <a:pt x="246" y="270"/>
                </a:moveTo>
                <a:lnTo>
                  <a:pt x="5648835" y="270"/>
                </a:lnTo>
                <a:lnTo>
                  <a:pt x="5648835" y="6857219"/>
                </a:lnTo>
                <a:lnTo>
                  <a:pt x="247" y="6857219"/>
                </a:lnTo>
                <a:close/>
              </a:path>
            </a:pathLst>
          </a:custGeom>
        </p:spPr>
      </p:pic>
      <p:pic>
        <p:nvPicPr>
          <p:cNvPr id="13" name="グラフィックス 14">
            <a:extLst>
              <a:ext uri="{FF2B5EF4-FFF2-40B4-BE49-F238E27FC236}">
                <a16:creationId xmlns:a16="http://schemas.microsoft.com/office/drawing/2014/main" id="{D48C4625-803C-06F5-2FB4-6CCB09BFB282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770945" y="5154795"/>
            <a:ext cx="1408030" cy="1080000"/>
          </a:xfrm>
          <a:custGeom>
            <a:avLst/>
            <a:gdLst>
              <a:gd name="connsiteX0" fmla="*/ 265 w 8944784"/>
              <a:gd name="connsiteY0" fmla="*/ 124 h 6860928"/>
              <a:gd name="connsiteX1" fmla="*/ 8945049 w 8944784"/>
              <a:gd name="connsiteY1" fmla="*/ 124 h 6860928"/>
              <a:gd name="connsiteX2" fmla="*/ 8945049 w 8944784"/>
              <a:gd name="connsiteY2" fmla="*/ 6861053 h 6860928"/>
              <a:gd name="connsiteX3" fmla="*/ 265 w 8944784"/>
              <a:gd name="connsiteY3" fmla="*/ 6861053 h 6860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944784" h="6860928">
                <a:moveTo>
                  <a:pt x="265" y="124"/>
                </a:moveTo>
                <a:lnTo>
                  <a:pt x="8945049" y="124"/>
                </a:lnTo>
                <a:lnTo>
                  <a:pt x="8945049" y="6861053"/>
                </a:lnTo>
                <a:lnTo>
                  <a:pt x="265" y="6861053"/>
                </a:lnTo>
                <a:close/>
              </a:path>
            </a:pathLst>
          </a:custGeom>
        </p:spPr>
      </p:pic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66E30452-AEB6-5714-A6C5-F238AA314FF4}"/>
              </a:ext>
            </a:extLst>
          </p:cNvPr>
          <p:cNvSpPr/>
          <p:nvPr/>
        </p:nvSpPr>
        <p:spPr>
          <a:xfrm>
            <a:off x="394960" y="2244909"/>
            <a:ext cx="2160000" cy="5400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マイクロホン</a:t>
            </a: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8A4700C6-C96B-4A80-7403-E2292C44C3C3}"/>
              </a:ext>
            </a:extLst>
          </p:cNvPr>
          <p:cNvSpPr/>
          <p:nvPr/>
        </p:nvSpPr>
        <p:spPr>
          <a:xfrm>
            <a:off x="394960" y="4364833"/>
            <a:ext cx="2160000" cy="5400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GPS</a:t>
            </a:r>
            <a:endParaRPr kumimoji="1" lang="ja-JP" altLang="en-US" sz="2400" dirty="0">
              <a:solidFill>
                <a:schemeClr val="tx1"/>
              </a:solidFill>
              <a:latin typeface="Arial" panose="020B0604020202020204" pitchFamily="34" charset="0"/>
              <a:ea typeface="ＭＳ Ｐゴシック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47D3E107-94DD-A251-E3C3-EB9959134DF0}"/>
              </a:ext>
            </a:extLst>
          </p:cNvPr>
          <p:cNvSpPr/>
          <p:nvPr/>
        </p:nvSpPr>
        <p:spPr>
          <a:xfrm>
            <a:off x="394960" y="5424795"/>
            <a:ext cx="2160000" cy="5400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磁気センサ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006922DE-4B28-492D-2C15-63DA43442953}"/>
              </a:ext>
            </a:extLst>
          </p:cNvPr>
          <p:cNvSpPr/>
          <p:nvPr/>
        </p:nvSpPr>
        <p:spPr>
          <a:xfrm>
            <a:off x="394960" y="3304871"/>
            <a:ext cx="2160000" cy="5400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タッチセンサ</a:t>
            </a:r>
          </a:p>
        </p:txBody>
      </p: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703C374B-F277-C52C-B36A-B390550AB4A3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2554960" y="2514909"/>
            <a:ext cx="2617115" cy="17050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F98B71CD-84AE-6335-616C-A42406A18712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2554960" y="4290082"/>
            <a:ext cx="2595045" cy="3447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0196C427-E26C-42CE-9079-51E555F5097A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2554960" y="3574871"/>
            <a:ext cx="2595045" cy="67293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948C17B8-0AB9-9DD9-C955-D6ABFD2C4F23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2554960" y="4332355"/>
            <a:ext cx="2595045" cy="13624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B2E36FB8-C57B-7356-67BA-2F5F6F39D345}"/>
              </a:ext>
            </a:extLst>
          </p:cNvPr>
          <p:cNvSpPr/>
          <p:nvPr/>
        </p:nvSpPr>
        <p:spPr>
          <a:xfrm>
            <a:off x="161364" y="1488229"/>
            <a:ext cx="7137001" cy="5233246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DA56364C-6968-D75F-8801-D5A35DD38357}"/>
              </a:ext>
            </a:extLst>
          </p:cNvPr>
          <p:cNvSpPr/>
          <p:nvPr/>
        </p:nvSpPr>
        <p:spPr>
          <a:xfrm>
            <a:off x="2919864" y="1191846"/>
            <a:ext cx="1620000" cy="540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入力層</a:t>
            </a:r>
          </a:p>
        </p:txBody>
      </p:sp>
      <p:sp>
        <p:nvSpPr>
          <p:cNvPr id="62" name="四角形: 角を丸くする 61">
            <a:extLst>
              <a:ext uri="{FF2B5EF4-FFF2-40B4-BE49-F238E27FC236}">
                <a16:creationId xmlns:a16="http://schemas.microsoft.com/office/drawing/2014/main" id="{BB6C9FBD-B08E-85F5-CEB8-E0386222240C}"/>
              </a:ext>
            </a:extLst>
          </p:cNvPr>
          <p:cNvSpPr/>
          <p:nvPr/>
        </p:nvSpPr>
        <p:spPr>
          <a:xfrm>
            <a:off x="9536315" y="1488229"/>
            <a:ext cx="7137001" cy="5233246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7" name="四角形: 角を丸くする 66">
            <a:extLst>
              <a:ext uri="{FF2B5EF4-FFF2-40B4-BE49-F238E27FC236}">
                <a16:creationId xmlns:a16="http://schemas.microsoft.com/office/drawing/2014/main" id="{CC8DA7DD-D7D4-5B7F-0AAD-4A5E7540C886}"/>
              </a:ext>
            </a:extLst>
          </p:cNvPr>
          <p:cNvSpPr/>
          <p:nvPr/>
        </p:nvSpPr>
        <p:spPr>
          <a:xfrm>
            <a:off x="10069478" y="1191846"/>
            <a:ext cx="1620000" cy="540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400" dirty="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中間</a:t>
            </a:r>
            <a:r>
              <a:rPr kumimoji="1" lang="ja-JP" altLang="en-US" sz="2400" dirty="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層</a:t>
            </a:r>
          </a:p>
        </p:txBody>
      </p:sp>
      <p:grpSp>
        <p:nvGrpSpPr>
          <p:cNvPr id="69" name="グループ化 68">
            <a:extLst>
              <a:ext uri="{FF2B5EF4-FFF2-40B4-BE49-F238E27FC236}">
                <a16:creationId xmlns:a16="http://schemas.microsoft.com/office/drawing/2014/main" id="{4ABA4B43-5DC6-024E-7D11-97285AEB0AF2}"/>
              </a:ext>
            </a:extLst>
          </p:cNvPr>
          <p:cNvGrpSpPr/>
          <p:nvPr/>
        </p:nvGrpSpPr>
        <p:grpSpPr>
          <a:xfrm>
            <a:off x="7298365" y="3344038"/>
            <a:ext cx="2237950" cy="760814"/>
            <a:chOff x="7298365" y="3344038"/>
            <a:chExt cx="2237950" cy="760814"/>
          </a:xfrm>
        </p:grpSpPr>
        <p:cxnSp>
          <p:nvCxnSpPr>
            <p:cNvPr id="64" name="直線矢印コネクタ 63">
              <a:extLst>
                <a:ext uri="{FF2B5EF4-FFF2-40B4-BE49-F238E27FC236}">
                  <a16:creationId xmlns:a16="http://schemas.microsoft.com/office/drawing/2014/main" id="{A9F121E7-A555-C4AB-7A14-1C8D4698DCCC}"/>
                </a:ext>
              </a:extLst>
            </p:cNvPr>
            <p:cNvCxnSpPr>
              <a:cxnSpLocks/>
              <a:stCxn id="39" idx="3"/>
              <a:endCxn id="62" idx="1"/>
            </p:cNvCxnSpPr>
            <p:nvPr/>
          </p:nvCxnSpPr>
          <p:spPr>
            <a:xfrm>
              <a:off x="7298365" y="4104852"/>
              <a:ext cx="2237950" cy="0"/>
            </a:xfrm>
            <a:prstGeom prst="straightConnector1">
              <a:avLst/>
            </a:prstGeom>
            <a:ln w="254000">
              <a:solidFill>
                <a:schemeClr val="tx1"/>
              </a:solidFill>
              <a:prstDash val="sys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テキスト ボックス 67">
              <a:extLst>
                <a:ext uri="{FF2B5EF4-FFF2-40B4-BE49-F238E27FC236}">
                  <a16:creationId xmlns:a16="http://schemas.microsoft.com/office/drawing/2014/main" id="{E819AC72-AD97-E0A8-0CC9-BC8EC3B7B304}"/>
                </a:ext>
              </a:extLst>
            </p:cNvPr>
            <p:cNvSpPr txBox="1"/>
            <p:nvPr/>
          </p:nvSpPr>
          <p:spPr>
            <a:xfrm>
              <a:off x="7923454" y="3344038"/>
              <a:ext cx="9877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dirty="0">
                  <a:latin typeface="Arial" panose="020B0604020202020204" pitchFamily="34" charset="0"/>
                  <a:ea typeface="ＭＳ Ｐゴシック" panose="020B0600070205080204" pitchFamily="50" charset="-128"/>
                  <a:cs typeface="Arial" panose="020B0604020202020204" pitchFamily="34" charset="0"/>
                </a:rPr>
                <a:t>HTTP</a:t>
              </a:r>
              <a:endParaRPr kumimoji="1" lang="ja-JP" altLang="en-US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endParaRPr>
            </a:p>
          </p:txBody>
        </p:sp>
      </p:grpSp>
      <p:grpSp>
        <p:nvGrpSpPr>
          <p:cNvPr id="76" name="グループ化 75">
            <a:extLst>
              <a:ext uri="{FF2B5EF4-FFF2-40B4-BE49-F238E27FC236}">
                <a16:creationId xmlns:a16="http://schemas.microsoft.com/office/drawing/2014/main" id="{E42E0672-A002-A201-4622-0723CFCECA10}"/>
              </a:ext>
            </a:extLst>
          </p:cNvPr>
          <p:cNvGrpSpPr/>
          <p:nvPr/>
        </p:nvGrpSpPr>
        <p:grpSpPr>
          <a:xfrm>
            <a:off x="5048363" y="137403"/>
            <a:ext cx="4500000" cy="2745533"/>
            <a:chOff x="5048363" y="137403"/>
            <a:chExt cx="4500000" cy="2745533"/>
          </a:xfrm>
        </p:grpSpPr>
        <p:sp>
          <p:nvSpPr>
            <p:cNvPr id="74" name="吹き出し: 角を丸めた四角形 73">
              <a:extLst>
                <a:ext uri="{FF2B5EF4-FFF2-40B4-BE49-F238E27FC236}">
                  <a16:creationId xmlns:a16="http://schemas.microsoft.com/office/drawing/2014/main" id="{58BD57E8-F568-E4E4-1D9C-B4750BD851F3}"/>
                </a:ext>
              </a:extLst>
            </p:cNvPr>
            <p:cNvSpPr/>
            <p:nvPr/>
          </p:nvSpPr>
          <p:spPr>
            <a:xfrm>
              <a:off x="5048363" y="137403"/>
              <a:ext cx="4500000" cy="2745529"/>
            </a:xfrm>
            <a:prstGeom prst="wedgeRoundRectCallout">
              <a:avLst>
                <a:gd name="adj1" fmla="val -15541"/>
                <a:gd name="adj2" fmla="val 76724"/>
                <a:gd name="adj3" fmla="val 16667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5" name="コンテンツ プレースホルダー 1">
              <a:extLst>
                <a:ext uri="{FF2B5EF4-FFF2-40B4-BE49-F238E27FC236}">
                  <a16:creationId xmlns:a16="http://schemas.microsoft.com/office/drawing/2014/main" id="{EB2252D5-DDC0-C90D-468C-6127FCEAC7B5}"/>
                </a:ext>
              </a:extLst>
            </p:cNvPr>
            <p:cNvSpPr txBox="1">
              <a:spLocks/>
            </p:cNvSpPr>
            <p:nvPr/>
          </p:nvSpPr>
          <p:spPr>
            <a:xfrm>
              <a:off x="5279616" y="137405"/>
              <a:ext cx="4037495" cy="2745531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228594" indent="-228594" algn="l" defTabSz="914377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kumimoji="1" sz="28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Arial" panose="020B0604020202020204" pitchFamily="34" charset="0"/>
                </a:defRPr>
              </a:lvl1pPr>
              <a:lvl2pPr marL="685783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‒"/>
                <a:defRPr kumimoji="1"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Arial" panose="020B0604020202020204" pitchFamily="34" charset="0"/>
                </a:defRPr>
              </a:lvl2pPr>
              <a:lvl3pPr marL="1142971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Arial" panose="020B0604020202020204" pitchFamily="34" charset="0"/>
                </a:defRPr>
              </a:lvl3pPr>
              <a:lvl4pPr marL="1600160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‒"/>
                <a:defRPr kumimoji="1" sz="18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Arial" panose="020B0604020202020204" pitchFamily="34" charset="0"/>
                </a:defRPr>
              </a:lvl4pPr>
              <a:lvl5pPr marL="2057349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Arial" panose="020B0604020202020204" pitchFamily="34" charset="0"/>
                </a:defRPr>
              </a:lvl5pPr>
              <a:lvl6pPr marL="2514537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726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914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103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ja-JP" altLang="en-US" sz="2000" dirty="0"/>
                <a:t>マイクロホン</a:t>
              </a:r>
              <a:endParaRPr lang="en-US" altLang="ja-JP" sz="2000" dirty="0"/>
            </a:p>
            <a:p>
              <a:pPr lvl="1"/>
              <a:r>
                <a:rPr lang="en-US" altLang="ja-JP" sz="1600" dirty="0"/>
                <a:t>100</a:t>
              </a:r>
              <a:r>
                <a:rPr lang="en-US" altLang="ja-JP" sz="800" dirty="0"/>
                <a:t> </a:t>
              </a:r>
              <a:r>
                <a:rPr lang="en-US" altLang="ja-JP" sz="1600" dirty="0"/>
                <a:t>dB</a:t>
              </a:r>
              <a:r>
                <a:rPr lang="ja-JP" altLang="en-US" sz="1600" dirty="0"/>
                <a:t>を超えたら</a:t>
              </a:r>
              <a:endParaRPr lang="en-US" altLang="ja-JP" sz="1600" dirty="0"/>
            </a:p>
            <a:p>
              <a:r>
                <a:rPr lang="ja-JP" altLang="en-US" sz="2000" dirty="0"/>
                <a:t>タッチセンサ</a:t>
              </a:r>
              <a:endParaRPr lang="en-US" altLang="ja-JP" sz="2000" dirty="0"/>
            </a:p>
            <a:p>
              <a:pPr lvl="1"/>
              <a:r>
                <a:rPr lang="en-US" altLang="ja-JP" sz="1600" dirty="0"/>
                <a:t>1</a:t>
              </a:r>
              <a:r>
                <a:rPr lang="ja-JP" altLang="en-US" sz="1600" dirty="0"/>
                <a:t>回カウントするたびに</a:t>
              </a:r>
              <a:endParaRPr lang="en-US" altLang="ja-JP" sz="1600" dirty="0"/>
            </a:p>
            <a:p>
              <a:r>
                <a:rPr lang="en-US" altLang="ja-JP" sz="2000" dirty="0"/>
                <a:t>GPS</a:t>
              </a:r>
            </a:p>
            <a:p>
              <a:pPr lvl="1"/>
              <a:r>
                <a:rPr lang="ja-JP" altLang="en-US" sz="1600" dirty="0"/>
                <a:t>ランナーの</a:t>
              </a:r>
              <a:r>
                <a:rPr lang="en-US" altLang="ja-JP" sz="1600" dirty="0"/>
                <a:t>100</a:t>
              </a:r>
              <a:r>
                <a:rPr lang="en-US" altLang="ja-JP" sz="800" dirty="0"/>
                <a:t> </a:t>
              </a:r>
              <a:r>
                <a:rPr lang="en-US" altLang="ja-JP" sz="1600" dirty="0"/>
                <a:t>m</a:t>
              </a:r>
              <a:r>
                <a:rPr lang="ja-JP" altLang="en-US" sz="1600" dirty="0"/>
                <a:t>の移動があったとき</a:t>
              </a:r>
              <a:endParaRPr lang="en-US" altLang="ja-JP" sz="1600" dirty="0"/>
            </a:p>
            <a:p>
              <a:r>
                <a:rPr lang="ja-JP" altLang="en-US" sz="2000" dirty="0"/>
                <a:t>磁気センサ</a:t>
              </a:r>
              <a:endParaRPr lang="en-US" altLang="ja-JP" sz="2000" dirty="0"/>
            </a:p>
            <a:p>
              <a:pPr lvl="1"/>
              <a:r>
                <a:rPr lang="en-US" altLang="ja-JP" sz="1600" dirty="0"/>
                <a:t>10</a:t>
              </a:r>
              <a:r>
                <a:rPr lang="ja-JP" altLang="en-US" sz="1600" dirty="0"/>
                <a:t>回転したとき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8578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83F380F7-92E6-A3B2-6480-F5A52B2E8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こだわりのシステム構成（中間層）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EAEC270-E206-A641-E409-5123A2131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9D727-202F-41E9-B9E9-EC03C40CD1DE}" type="slidenum">
              <a:rPr lang="ja-JP" altLang="en-US" smtClean="0"/>
              <a:pPr/>
              <a:t>6</a:t>
            </a:fld>
            <a:endParaRPr lang="ja-JP" altLang="en-US" dirty="0"/>
          </a:p>
        </p:txBody>
      </p:sp>
      <p:pic>
        <p:nvPicPr>
          <p:cNvPr id="5" name="グラフィックス 11">
            <a:extLst>
              <a:ext uri="{FF2B5EF4-FFF2-40B4-BE49-F238E27FC236}">
                <a16:creationId xmlns:a16="http://schemas.microsoft.com/office/drawing/2014/main" id="{E92CA039-F877-0D0B-0753-EFACB8C443E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466630" y="3204852"/>
            <a:ext cx="2404733" cy="1800000"/>
          </a:xfrm>
          <a:custGeom>
            <a:avLst/>
            <a:gdLst>
              <a:gd name="connsiteX0" fmla="*/ -23 w 6108011"/>
              <a:gd name="connsiteY0" fmla="*/ -95 h 4572000"/>
              <a:gd name="connsiteX1" fmla="*/ 6107989 w 6108011"/>
              <a:gd name="connsiteY1" fmla="*/ -95 h 4572000"/>
              <a:gd name="connsiteX2" fmla="*/ 6107989 w 6108011"/>
              <a:gd name="connsiteY2" fmla="*/ 4571905 h 4572000"/>
              <a:gd name="connsiteX3" fmla="*/ -23 w 6108011"/>
              <a:gd name="connsiteY3" fmla="*/ 4571905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08011" h="4572000">
                <a:moveTo>
                  <a:pt x="-23" y="-95"/>
                </a:moveTo>
                <a:lnTo>
                  <a:pt x="6107989" y="-95"/>
                </a:lnTo>
                <a:lnTo>
                  <a:pt x="6107989" y="4571905"/>
                </a:lnTo>
                <a:lnTo>
                  <a:pt x="-23" y="4571905"/>
                </a:lnTo>
                <a:close/>
              </a:path>
            </a:pathLst>
          </a:custGeom>
        </p:spPr>
      </p:pic>
      <p:pic>
        <p:nvPicPr>
          <p:cNvPr id="6" name="グラフィックス 16">
            <a:extLst>
              <a:ext uri="{FF2B5EF4-FFF2-40B4-BE49-F238E27FC236}">
                <a16:creationId xmlns:a16="http://schemas.microsoft.com/office/drawing/2014/main" id="{F5FCFD20-F2C1-463A-3F2F-EDF8A81FCC7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3024852"/>
            <a:ext cx="2885683" cy="2160000"/>
          </a:xfrm>
          <a:custGeom>
            <a:avLst/>
            <a:gdLst>
              <a:gd name="connsiteX0" fmla="*/ -21 w 6108011"/>
              <a:gd name="connsiteY0" fmla="*/ -94 h 4572000"/>
              <a:gd name="connsiteX1" fmla="*/ 6107991 w 6108011"/>
              <a:gd name="connsiteY1" fmla="*/ -94 h 4572000"/>
              <a:gd name="connsiteX2" fmla="*/ 6107991 w 6108011"/>
              <a:gd name="connsiteY2" fmla="*/ 4571906 h 4572000"/>
              <a:gd name="connsiteX3" fmla="*/ -21 w 6108011"/>
              <a:gd name="connsiteY3" fmla="*/ 4571906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08011" h="4572000">
                <a:moveTo>
                  <a:pt x="-21" y="-94"/>
                </a:moveTo>
                <a:lnTo>
                  <a:pt x="6107991" y="-94"/>
                </a:lnTo>
                <a:lnTo>
                  <a:pt x="6107991" y="4571906"/>
                </a:lnTo>
                <a:lnTo>
                  <a:pt x="-21" y="4571906"/>
                </a:lnTo>
                <a:close/>
              </a:path>
            </a:pathLst>
          </a:cu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F6E979E-0FDF-AE6A-AEAD-3D73D1783F3F}"/>
              </a:ext>
            </a:extLst>
          </p:cNvPr>
          <p:cNvSpPr txBox="1"/>
          <p:nvPr/>
        </p:nvSpPr>
        <p:spPr>
          <a:xfrm>
            <a:off x="502519" y="4839674"/>
            <a:ext cx="18806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Raspberry Pi 4</a:t>
            </a:r>
            <a:endParaRPr kumimoji="1" lang="ja-JP" altLang="en-US" sz="2000" dirty="0">
              <a:latin typeface="Arial" panose="020B0604020202020204" pitchFamily="34" charset="0"/>
              <a:ea typeface="ＭＳ Ｐゴシック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07DECB0-811D-012A-5293-EE12CE48E81A}"/>
              </a:ext>
            </a:extLst>
          </p:cNvPr>
          <p:cNvSpPr txBox="1"/>
          <p:nvPr/>
        </p:nvSpPr>
        <p:spPr>
          <a:xfrm>
            <a:off x="9536315" y="4839674"/>
            <a:ext cx="2265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Raspberry Pi Zero</a:t>
            </a:r>
            <a:endParaRPr kumimoji="1" lang="ja-JP" altLang="en-US" sz="2000" dirty="0">
              <a:latin typeface="Arial" panose="020B0604020202020204" pitchFamily="34" charset="0"/>
              <a:ea typeface="ＭＳ Ｐゴシック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BAF9FBBA-6D51-C491-EE18-4A66DA94B95B}"/>
              </a:ext>
            </a:extLst>
          </p:cNvPr>
          <p:cNvSpPr/>
          <p:nvPr/>
        </p:nvSpPr>
        <p:spPr>
          <a:xfrm>
            <a:off x="161364" y="1488229"/>
            <a:ext cx="7137001" cy="5233246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9A365062-41C5-1F57-2AF9-F53B1A861383}"/>
              </a:ext>
            </a:extLst>
          </p:cNvPr>
          <p:cNvSpPr/>
          <p:nvPr/>
        </p:nvSpPr>
        <p:spPr>
          <a:xfrm>
            <a:off x="2919864" y="1191846"/>
            <a:ext cx="1620000" cy="540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中間層</a:t>
            </a: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F71B70BA-F794-8EB3-AD75-09CD05D2E629}"/>
              </a:ext>
            </a:extLst>
          </p:cNvPr>
          <p:cNvSpPr/>
          <p:nvPr/>
        </p:nvSpPr>
        <p:spPr>
          <a:xfrm>
            <a:off x="9536315" y="1488229"/>
            <a:ext cx="7137001" cy="5233246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5BB32A79-A1BF-8B3F-6F9E-37F42E8D84C6}"/>
              </a:ext>
            </a:extLst>
          </p:cNvPr>
          <p:cNvSpPr/>
          <p:nvPr/>
        </p:nvSpPr>
        <p:spPr>
          <a:xfrm>
            <a:off x="10069478" y="1191846"/>
            <a:ext cx="1620000" cy="540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出力層</a:t>
            </a:r>
          </a:p>
        </p:txBody>
      </p: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543890A6-09F8-2535-30B0-EE1A2703BD2B}"/>
              </a:ext>
            </a:extLst>
          </p:cNvPr>
          <p:cNvGrpSpPr/>
          <p:nvPr/>
        </p:nvGrpSpPr>
        <p:grpSpPr>
          <a:xfrm>
            <a:off x="7298365" y="3344038"/>
            <a:ext cx="2237950" cy="760814"/>
            <a:chOff x="7298365" y="3344038"/>
            <a:chExt cx="2237950" cy="760814"/>
          </a:xfrm>
        </p:grpSpPr>
        <p:cxnSp>
          <p:nvCxnSpPr>
            <p:cNvPr id="26" name="直線矢印コネクタ 25">
              <a:extLst>
                <a:ext uri="{FF2B5EF4-FFF2-40B4-BE49-F238E27FC236}">
                  <a16:creationId xmlns:a16="http://schemas.microsoft.com/office/drawing/2014/main" id="{E0928C12-88BB-27A7-2E91-CBD65ADDE774}"/>
                </a:ext>
              </a:extLst>
            </p:cNvPr>
            <p:cNvCxnSpPr>
              <a:cxnSpLocks/>
              <a:stCxn id="21" idx="3"/>
              <a:endCxn id="23" idx="1"/>
            </p:cNvCxnSpPr>
            <p:nvPr/>
          </p:nvCxnSpPr>
          <p:spPr>
            <a:xfrm>
              <a:off x="7298365" y="4104852"/>
              <a:ext cx="2237950" cy="0"/>
            </a:xfrm>
            <a:prstGeom prst="straightConnector1">
              <a:avLst/>
            </a:prstGeom>
            <a:ln w="254000">
              <a:solidFill>
                <a:schemeClr val="tx1"/>
              </a:solidFill>
              <a:prstDash val="sys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63033D64-5485-56B7-27E2-F2DE2B7264FD}"/>
                </a:ext>
              </a:extLst>
            </p:cNvPr>
            <p:cNvSpPr txBox="1"/>
            <p:nvPr/>
          </p:nvSpPr>
          <p:spPr>
            <a:xfrm>
              <a:off x="7923454" y="3344038"/>
              <a:ext cx="9877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dirty="0">
                  <a:latin typeface="Arial" panose="020B0604020202020204" pitchFamily="34" charset="0"/>
                  <a:ea typeface="ＭＳ Ｐゴシック" panose="020B0600070205080204" pitchFamily="50" charset="-128"/>
                  <a:cs typeface="Arial" panose="020B0604020202020204" pitchFamily="34" charset="0"/>
                </a:rPr>
                <a:t>HTTP</a:t>
              </a:r>
              <a:endParaRPr kumimoji="1" lang="ja-JP" altLang="en-US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endParaRPr>
            </a:p>
          </p:txBody>
        </p:sp>
      </p:grpSp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CB676ECC-3140-84E5-087D-F1ED0FCE962A}"/>
              </a:ext>
            </a:extLst>
          </p:cNvPr>
          <p:cNvGrpSpPr/>
          <p:nvPr/>
        </p:nvGrpSpPr>
        <p:grpSpPr>
          <a:xfrm>
            <a:off x="2708928" y="1895345"/>
            <a:ext cx="4320000" cy="4419013"/>
            <a:chOff x="2708928" y="1895345"/>
            <a:chExt cx="4320000" cy="4419013"/>
          </a:xfrm>
        </p:grpSpPr>
        <p:sp>
          <p:nvSpPr>
            <p:cNvPr id="28" name="吹き出し: 角を丸めた四角形 27">
              <a:extLst>
                <a:ext uri="{FF2B5EF4-FFF2-40B4-BE49-F238E27FC236}">
                  <a16:creationId xmlns:a16="http://schemas.microsoft.com/office/drawing/2014/main" id="{6330B36B-6057-CF47-D88D-C7CB6CD61017}"/>
                </a:ext>
              </a:extLst>
            </p:cNvPr>
            <p:cNvSpPr/>
            <p:nvPr/>
          </p:nvSpPr>
          <p:spPr>
            <a:xfrm>
              <a:off x="2708928" y="1895345"/>
              <a:ext cx="4320000" cy="4419013"/>
            </a:xfrm>
            <a:prstGeom prst="wedgeRoundRectCallout">
              <a:avLst>
                <a:gd name="adj1" fmla="val -70663"/>
                <a:gd name="adj2" fmla="val -5181"/>
                <a:gd name="adj3" fmla="val 16667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正方形/長方形 28">
              <a:extLst>
                <a:ext uri="{FF2B5EF4-FFF2-40B4-BE49-F238E27FC236}">
                  <a16:creationId xmlns:a16="http://schemas.microsoft.com/office/drawing/2014/main" id="{B25FFFA6-46AF-EC8E-123E-B7F9436E3747}"/>
                </a:ext>
              </a:extLst>
            </p:cNvPr>
            <p:cNvSpPr/>
            <p:nvPr/>
          </p:nvSpPr>
          <p:spPr>
            <a:xfrm>
              <a:off x="3248928" y="2304852"/>
              <a:ext cx="3240000" cy="720000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2000" dirty="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Arial" panose="020B0604020202020204" pitchFamily="34" charset="0"/>
                </a:rPr>
                <a:t>POST</a:t>
              </a:r>
              <a:r>
                <a:rPr lang="ja-JP" altLang="en-US" sz="2000" dirty="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Arial" panose="020B0604020202020204" pitchFamily="34" charset="0"/>
                </a:rPr>
                <a:t>リクエストを</a:t>
              </a:r>
              <a:br>
                <a:rPr lang="en-US" altLang="ja-JP" sz="2000" dirty="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Arial" panose="020B0604020202020204" pitchFamily="34" charset="0"/>
                </a:rPr>
              </a:br>
              <a:r>
                <a:rPr lang="ja-JP" altLang="en-US" sz="2000" dirty="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Arial" panose="020B0604020202020204" pitchFamily="34" charset="0"/>
                </a:rPr>
                <a:t>見て重み付けを実施</a:t>
              </a:r>
              <a:endParaRPr kumimoji="1" lang="ja-JP" altLang="en-US" sz="2000" dirty="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endParaRPr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EF945B94-058F-59A0-3E80-4B90C9FE7212}"/>
                </a:ext>
              </a:extLst>
            </p:cNvPr>
            <p:cNvSpPr/>
            <p:nvPr/>
          </p:nvSpPr>
          <p:spPr>
            <a:xfrm>
              <a:off x="3253061" y="3744851"/>
              <a:ext cx="3240000" cy="720000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2000" dirty="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Arial" panose="020B0604020202020204" pitchFamily="34" charset="0"/>
                </a:rPr>
                <a:t>換算したポイントを対応する</a:t>
              </a:r>
              <a:br>
                <a:rPr kumimoji="1" lang="en-US" altLang="ja-JP" sz="2000" dirty="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Arial" panose="020B0604020202020204" pitchFamily="34" charset="0"/>
                </a:rPr>
              </a:br>
              <a:r>
                <a:rPr kumimoji="1" lang="ja-JP" altLang="en-US" sz="2000" dirty="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Arial" panose="020B0604020202020204" pitchFamily="34" charset="0"/>
                </a:rPr>
                <a:t>チームのゲージに加算</a:t>
              </a:r>
            </a:p>
          </p:txBody>
        </p:sp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30AA0BC3-A590-5AB3-C353-17AAFCD6CAD6}"/>
                </a:ext>
              </a:extLst>
            </p:cNvPr>
            <p:cNvSpPr/>
            <p:nvPr/>
          </p:nvSpPr>
          <p:spPr>
            <a:xfrm>
              <a:off x="3248928" y="5184850"/>
              <a:ext cx="3240000" cy="720000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2000" dirty="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Arial" panose="020B0604020202020204" pitchFamily="34" charset="0"/>
                </a:rPr>
                <a:t>先にゲージが</a:t>
              </a:r>
              <a:r>
                <a:rPr kumimoji="1" lang="en-US" altLang="ja-JP" sz="2000" dirty="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Arial" panose="020B0604020202020204" pitchFamily="34" charset="0"/>
                </a:rPr>
                <a:t>MAX</a:t>
              </a:r>
              <a:r>
                <a:rPr kumimoji="1" lang="ja-JP" altLang="en-US" sz="2000" dirty="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Arial" panose="020B0604020202020204" pitchFamily="34" charset="0"/>
                </a:rPr>
                <a:t>になった</a:t>
              </a:r>
              <a:br>
                <a:rPr kumimoji="1" lang="en-US" altLang="ja-JP" sz="2000" dirty="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Arial" panose="020B0604020202020204" pitchFamily="34" charset="0"/>
                </a:rPr>
              </a:br>
              <a:r>
                <a:rPr lang="ja-JP" altLang="en-US" sz="2000" dirty="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Arial" panose="020B0604020202020204" pitchFamily="34" charset="0"/>
                </a:rPr>
                <a:t>方の</a:t>
              </a:r>
              <a:r>
                <a:rPr lang="en-US" altLang="ja-JP" sz="2000" dirty="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Arial" panose="020B0604020202020204" pitchFamily="34" charset="0"/>
                </a:rPr>
                <a:t>POST</a:t>
              </a:r>
              <a:r>
                <a:rPr lang="ja-JP" altLang="en-US" sz="2000" dirty="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  <a:cs typeface="Arial" panose="020B0604020202020204" pitchFamily="34" charset="0"/>
                </a:rPr>
                <a:t>リクエストを送信</a:t>
              </a:r>
              <a:endParaRPr kumimoji="1" lang="ja-JP" altLang="en-US" sz="2000" dirty="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endParaRPr>
            </a:p>
          </p:txBody>
        </p:sp>
        <p:cxnSp>
          <p:nvCxnSpPr>
            <p:cNvPr id="33" name="直線矢印コネクタ 32">
              <a:extLst>
                <a:ext uri="{FF2B5EF4-FFF2-40B4-BE49-F238E27FC236}">
                  <a16:creationId xmlns:a16="http://schemas.microsoft.com/office/drawing/2014/main" id="{4B11CB1C-5495-B79B-E0DB-1F6E3E9A50C9}"/>
                </a:ext>
              </a:extLst>
            </p:cNvPr>
            <p:cNvCxnSpPr>
              <a:cxnSpLocks/>
              <a:stCxn id="29" idx="2"/>
              <a:endCxn id="30" idx="0"/>
            </p:cNvCxnSpPr>
            <p:nvPr/>
          </p:nvCxnSpPr>
          <p:spPr>
            <a:xfrm>
              <a:off x="4868928" y="3024852"/>
              <a:ext cx="4133" cy="71999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矢印コネクタ 34">
              <a:extLst>
                <a:ext uri="{FF2B5EF4-FFF2-40B4-BE49-F238E27FC236}">
                  <a16:creationId xmlns:a16="http://schemas.microsoft.com/office/drawing/2014/main" id="{792FEDF4-0ED7-3CD3-AD02-B27E66647F9C}"/>
                </a:ext>
              </a:extLst>
            </p:cNvPr>
            <p:cNvCxnSpPr>
              <a:cxnSpLocks/>
              <a:stCxn id="30" idx="2"/>
              <a:endCxn id="31" idx="0"/>
            </p:cNvCxnSpPr>
            <p:nvPr/>
          </p:nvCxnSpPr>
          <p:spPr>
            <a:xfrm flipH="1">
              <a:off x="4868928" y="4464851"/>
              <a:ext cx="4133" cy="71999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吹き出し: 円形 37">
            <a:extLst>
              <a:ext uri="{FF2B5EF4-FFF2-40B4-BE49-F238E27FC236}">
                <a16:creationId xmlns:a16="http://schemas.microsoft.com/office/drawing/2014/main" id="{022291A9-5503-127A-1A0C-261D122880F8}"/>
              </a:ext>
            </a:extLst>
          </p:cNvPr>
          <p:cNvSpPr/>
          <p:nvPr/>
        </p:nvSpPr>
        <p:spPr>
          <a:xfrm>
            <a:off x="-1" y="864852"/>
            <a:ext cx="3600000" cy="1440000"/>
          </a:xfrm>
          <a:prstGeom prst="wedgeEllipseCallout">
            <a:avLst>
              <a:gd name="adj1" fmla="val 49546"/>
              <a:gd name="adj2" fmla="val 75729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マイクロホンからの</a:t>
            </a:r>
            <a:br>
              <a:rPr kumimoji="1" lang="en-US" altLang="ja-JP" sz="1600" dirty="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</a:br>
            <a:r>
              <a:rPr kumimoji="1" lang="en-US" altLang="ja-JP" sz="1600" dirty="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POST</a:t>
            </a:r>
            <a:r>
              <a:rPr kumimoji="1" lang="ja-JP" altLang="en-US" sz="1600" dirty="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リクエストであれば</a:t>
            </a:r>
            <a:br>
              <a:rPr kumimoji="1" lang="en-US" altLang="ja-JP" sz="1600" dirty="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</a:br>
            <a:r>
              <a:rPr kumimoji="1" lang="en-US" altLang="ja-JP" sz="1600" dirty="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100 </a:t>
            </a:r>
            <a:r>
              <a:rPr kumimoji="1" lang="ja-JP" altLang="en-US" sz="1600" dirty="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ポイント加算</a:t>
            </a:r>
          </a:p>
        </p:txBody>
      </p:sp>
      <p:sp>
        <p:nvSpPr>
          <p:cNvPr id="41" name="吹き出し: 角を丸めた四角形 40">
            <a:extLst>
              <a:ext uri="{FF2B5EF4-FFF2-40B4-BE49-F238E27FC236}">
                <a16:creationId xmlns:a16="http://schemas.microsoft.com/office/drawing/2014/main" id="{B44052A9-80A5-F2EF-1F0F-BCFC270DB0B9}"/>
              </a:ext>
            </a:extLst>
          </p:cNvPr>
          <p:cNvSpPr/>
          <p:nvPr/>
        </p:nvSpPr>
        <p:spPr>
          <a:xfrm>
            <a:off x="7517340" y="2574852"/>
            <a:ext cx="1800000" cy="450000"/>
          </a:xfrm>
          <a:prstGeom prst="wedgeRoundRectCallout">
            <a:avLst>
              <a:gd name="adj1" fmla="val -1253"/>
              <a:gd name="adj2" fmla="val 135991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dirty="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チーム情報</a:t>
            </a:r>
          </a:p>
        </p:txBody>
      </p:sp>
    </p:spTree>
    <p:extLst>
      <p:ext uri="{BB962C8B-B14F-4D97-AF65-F5344CB8AC3E}">
        <p14:creationId xmlns:p14="http://schemas.microsoft.com/office/powerpoint/2010/main" val="3169987617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8" grpId="1" animBg="1"/>
      <p:bldP spid="4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469E36E9-331A-1246-97F5-EE1619458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こだわりのシステム構成（出力層）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5C07F47-2E51-4F0F-1948-B0FA6FF47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9D727-202F-41E9-B9E9-EC03C40CD1DE}" type="slidenum">
              <a:rPr lang="ja-JP" altLang="en-US" smtClean="0"/>
              <a:pPr/>
              <a:t>7</a:t>
            </a:fld>
            <a:endParaRPr lang="ja-JP" altLang="en-US" dirty="0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F9A467EF-6388-F13E-EA0B-DC30EC881D58}"/>
              </a:ext>
            </a:extLst>
          </p:cNvPr>
          <p:cNvSpPr/>
          <p:nvPr/>
        </p:nvSpPr>
        <p:spPr>
          <a:xfrm>
            <a:off x="161364" y="1488229"/>
            <a:ext cx="11869270" cy="5233246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08463336-0843-5F56-04D4-76D791148476}"/>
              </a:ext>
            </a:extLst>
          </p:cNvPr>
          <p:cNvSpPr/>
          <p:nvPr/>
        </p:nvSpPr>
        <p:spPr>
          <a:xfrm>
            <a:off x="5285999" y="1191846"/>
            <a:ext cx="1620000" cy="540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400" dirty="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出力</a:t>
            </a:r>
            <a:r>
              <a:rPr kumimoji="1" lang="ja-JP" altLang="en-US" sz="2400" dirty="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層</a:t>
            </a:r>
          </a:p>
        </p:txBody>
      </p:sp>
      <p:pic>
        <p:nvPicPr>
          <p:cNvPr id="21" name="グラフィックス 11">
            <a:extLst>
              <a:ext uri="{FF2B5EF4-FFF2-40B4-BE49-F238E27FC236}">
                <a16:creationId xmlns:a16="http://schemas.microsoft.com/office/drawing/2014/main" id="{2D7D8355-5BBB-875C-9496-5A382A1CD8E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678" y="3204852"/>
            <a:ext cx="2404733" cy="1800000"/>
          </a:xfrm>
          <a:custGeom>
            <a:avLst/>
            <a:gdLst>
              <a:gd name="connsiteX0" fmla="*/ -23 w 6108011"/>
              <a:gd name="connsiteY0" fmla="*/ -95 h 4572000"/>
              <a:gd name="connsiteX1" fmla="*/ 6107989 w 6108011"/>
              <a:gd name="connsiteY1" fmla="*/ -95 h 4572000"/>
              <a:gd name="connsiteX2" fmla="*/ 6107989 w 6108011"/>
              <a:gd name="connsiteY2" fmla="*/ 4571905 h 4572000"/>
              <a:gd name="connsiteX3" fmla="*/ -23 w 6108011"/>
              <a:gd name="connsiteY3" fmla="*/ 4571905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08011" h="4572000">
                <a:moveTo>
                  <a:pt x="-23" y="-95"/>
                </a:moveTo>
                <a:lnTo>
                  <a:pt x="6107989" y="-95"/>
                </a:lnTo>
                <a:lnTo>
                  <a:pt x="6107989" y="4571905"/>
                </a:lnTo>
                <a:lnTo>
                  <a:pt x="-23" y="4571905"/>
                </a:lnTo>
                <a:close/>
              </a:path>
            </a:pathLst>
          </a:custGeom>
        </p:spPr>
      </p:pic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AEC2338-C04A-7A53-C458-F327E756191C}"/>
              </a:ext>
            </a:extLst>
          </p:cNvPr>
          <p:cNvSpPr txBox="1"/>
          <p:nvPr/>
        </p:nvSpPr>
        <p:spPr>
          <a:xfrm>
            <a:off x="161363" y="4839674"/>
            <a:ext cx="2265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Raspberry Pi Zero</a:t>
            </a:r>
            <a:endParaRPr kumimoji="1" lang="ja-JP" altLang="en-US" sz="2000" dirty="0">
              <a:latin typeface="Arial" panose="020B0604020202020204" pitchFamily="34" charset="0"/>
              <a:ea typeface="ＭＳ Ｐゴシック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AD836D70-146F-3675-78C6-F037EC8EB587}"/>
              </a:ext>
            </a:extLst>
          </p:cNvPr>
          <p:cNvSpPr txBox="1"/>
          <p:nvPr/>
        </p:nvSpPr>
        <p:spPr>
          <a:xfrm>
            <a:off x="3667025" y="3504687"/>
            <a:ext cx="719299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LED</a:t>
            </a:r>
            <a:r>
              <a:rPr kumimoji="1" lang="ja-JP" altLang="en-US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ライト装飾と録音スピーカーの写真が撮れ次第，</a:t>
            </a:r>
            <a:br>
              <a:rPr kumimoji="1" lang="en-US" altLang="ja-JP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</a:br>
            <a:r>
              <a:rPr kumimoji="1" lang="ja-JP" altLang="en-US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計</a:t>
            </a:r>
            <a:r>
              <a:rPr kumimoji="1" lang="en-US" altLang="ja-JP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4</a:t>
            </a:r>
            <a:r>
              <a:rPr kumimoji="1" lang="ja-JP" altLang="en-US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つ（？）の出力をラズパイ</a:t>
            </a:r>
            <a:r>
              <a:rPr kumimoji="1" lang="en-US" altLang="ja-JP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Zero</a:t>
            </a:r>
            <a:r>
              <a:rPr kumimoji="1" lang="ja-JP" altLang="en-US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から矢印で繋ぐことを</a:t>
            </a:r>
            <a:br>
              <a:rPr kumimoji="1" lang="en-US" altLang="ja-JP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</a:br>
            <a:r>
              <a:rPr kumimoji="1" lang="ja-JP" altLang="en-US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想定しています！</a:t>
            </a:r>
          </a:p>
        </p:txBody>
      </p:sp>
    </p:spTree>
    <p:extLst>
      <p:ext uri="{BB962C8B-B14F-4D97-AF65-F5344CB8AC3E}">
        <p14:creationId xmlns:p14="http://schemas.microsoft.com/office/powerpoint/2010/main" val="3583341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66352262-1A80-45F9-36BD-94CC79A00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応援合戦！</a:t>
            </a:r>
            <a:endParaRPr kumimoji="1" lang="en-US" altLang="ja-JP" dirty="0"/>
          </a:p>
          <a:p>
            <a:pPr lvl="1"/>
            <a:r>
              <a:rPr kumimoji="1" lang="ja-JP" altLang="en-US" sz="2800" dirty="0"/>
              <a:t>先にゲージを満タンにした方が勝利！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6FAF71ED-5768-EA09-630C-6599CF948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ライブデモンストレーション！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3305310-9390-ABD0-8819-76F311A17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9D727-202F-41E9-B9E9-EC03C40CD1DE}" type="slidenum">
              <a:rPr lang="ja-JP" altLang="en-US" smtClean="0"/>
              <a:pPr/>
              <a:t>8</a:t>
            </a:fld>
            <a:endParaRPr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228B079-986A-EF4F-779E-2C5C587FC568}"/>
              </a:ext>
            </a:extLst>
          </p:cNvPr>
          <p:cNvSpPr txBox="1"/>
          <p:nvPr/>
        </p:nvSpPr>
        <p:spPr>
          <a:xfrm>
            <a:off x="5182929" y="3581333"/>
            <a:ext cx="182614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9600" b="1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VS</a:t>
            </a:r>
            <a:endParaRPr kumimoji="1" lang="ja-JP" altLang="en-US" sz="9600" b="1" dirty="0">
              <a:latin typeface="Arial" panose="020B0604020202020204" pitchFamily="34" charset="0"/>
              <a:ea typeface="ＭＳ Ｐゴシック" panose="020B0600070205080204" pitchFamily="50" charset="-128"/>
              <a:cs typeface="Arial" panose="020B0604020202020204" pitchFamily="34" charset="0"/>
            </a:endParaRPr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AF37298B-FBE1-591B-DCD5-88893686F426}"/>
              </a:ext>
            </a:extLst>
          </p:cNvPr>
          <p:cNvGrpSpPr/>
          <p:nvPr/>
        </p:nvGrpSpPr>
        <p:grpSpPr>
          <a:xfrm>
            <a:off x="829033" y="5905585"/>
            <a:ext cx="4112850" cy="360000"/>
            <a:chOff x="772561" y="4280873"/>
            <a:chExt cx="4112850" cy="360000"/>
          </a:xfrm>
        </p:grpSpPr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8C553F3E-494A-2BD7-63AE-59AC22D6FDD8}"/>
                </a:ext>
              </a:extLst>
            </p:cNvPr>
            <p:cNvSpPr/>
            <p:nvPr/>
          </p:nvSpPr>
          <p:spPr>
            <a:xfrm>
              <a:off x="3600451" y="4280873"/>
              <a:ext cx="1124010" cy="360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49383BA2-8E34-0D25-CA4C-1C07771FF021}"/>
                </a:ext>
              </a:extLst>
            </p:cNvPr>
            <p:cNvSpPr/>
            <p:nvPr/>
          </p:nvSpPr>
          <p:spPr>
            <a:xfrm>
              <a:off x="949873" y="4280873"/>
              <a:ext cx="2650577" cy="360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円弧 8">
              <a:extLst>
                <a:ext uri="{FF2B5EF4-FFF2-40B4-BE49-F238E27FC236}">
                  <a16:creationId xmlns:a16="http://schemas.microsoft.com/office/drawing/2014/main" id="{73D583B2-BFD1-D908-0793-5910C7C9CB08}"/>
                </a:ext>
              </a:extLst>
            </p:cNvPr>
            <p:cNvSpPr/>
            <p:nvPr/>
          </p:nvSpPr>
          <p:spPr>
            <a:xfrm>
              <a:off x="4525411" y="4280873"/>
              <a:ext cx="360000" cy="360000"/>
            </a:xfrm>
            <a:prstGeom prst="arc">
              <a:avLst>
                <a:gd name="adj1" fmla="val 16200000"/>
                <a:gd name="adj2" fmla="val 5348694"/>
              </a:avLst>
            </a:prstGeom>
            <a:solidFill>
              <a:srgbClr val="C00000"/>
            </a:solidFill>
            <a:ln w="381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円弧 9">
              <a:extLst>
                <a:ext uri="{FF2B5EF4-FFF2-40B4-BE49-F238E27FC236}">
                  <a16:creationId xmlns:a16="http://schemas.microsoft.com/office/drawing/2014/main" id="{046417A0-3A55-B695-6E6F-822427BBCDC7}"/>
                </a:ext>
              </a:extLst>
            </p:cNvPr>
            <p:cNvSpPr/>
            <p:nvPr/>
          </p:nvSpPr>
          <p:spPr>
            <a:xfrm rot="10800000">
              <a:off x="772561" y="4280873"/>
              <a:ext cx="360000" cy="360000"/>
            </a:xfrm>
            <a:prstGeom prst="arc">
              <a:avLst>
                <a:gd name="adj1" fmla="val 16200000"/>
                <a:gd name="adj2" fmla="val 5348694"/>
              </a:avLst>
            </a:prstGeom>
            <a:solidFill>
              <a:srgbClr val="FF0000"/>
            </a:solidFill>
            <a:ln w="381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1" name="直線コネクタ 10">
              <a:extLst>
                <a:ext uri="{FF2B5EF4-FFF2-40B4-BE49-F238E27FC236}">
                  <a16:creationId xmlns:a16="http://schemas.microsoft.com/office/drawing/2014/main" id="{D38A692E-4C45-536F-6FFB-872807C05390}"/>
                </a:ext>
              </a:extLst>
            </p:cNvPr>
            <p:cNvCxnSpPr>
              <a:cxnSpLocks/>
              <a:stCxn id="10" idx="2"/>
              <a:endCxn id="9" idx="0"/>
            </p:cNvCxnSpPr>
            <p:nvPr/>
          </p:nvCxnSpPr>
          <p:spPr>
            <a:xfrm flipV="1">
              <a:off x="949875" y="4280873"/>
              <a:ext cx="3755536" cy="20"/>
            </a:xfrm>
            <a:prstGeom prst="line">
              <a:avLst/>
            </a:prstGeom>
            <a:ln w="381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コネクタ 11">
              <a:extLst>
                <a:ext uri="{FF2B5EF4-FFF2-40B4-BE49-F238E27FC236}">
                  <a16:creationId xmlns:a16="http://schemas.microsoft.com/office/drawing/2014/main" id="{0CF1DD7B-1EF8-67CB-930F-C895098CBEB1}"/>
                </a:ext>
              </a:extLst>
            </p:cNvPr>
            <p:cNvCxnSpPr>
              <a:cxnSpLocks/>
              <a:stCxn id="10" idx="0"/>
              <a:endCxn id="9" idx="2"/>
            </p:cNvCxnSpPr>
            <p:nvPr/>
          </p:nvCxnSpPr>
          <p:spPr>
            <a:xfrm flipV="1">
              <a:off x="952561" y="4640853"/>
              <a:ext cx="3755536" cy="20"/>
            </a:xfrm>
            <a:prstGeom prst="line">
              <a:avLst/>
            </a:prstGeom>
            <a:ln w="381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34E9BD4-E225-BBDD-69F5-B64BB1C970D7}"/>
              </a:ext>
            </a:extLst>
          </p:cNvPr>
          <p:cNvSpPr txBox="1"/>
          <p:nvPr/>
        </p:nvSpPr>
        <p:spPr>
          <a:xfrm>
            <a:off x="1332629" y="2270500"/>
            <a:ext cx="310565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6000" b="1" dirty="0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TEAM A</a:t>
            </a:r>
            <a:endParaRPr kumimoji="1" lang="ja-JP" altLang="en-US" sz="6000" b="1" dirty="0">
              <a:solidFill>
                <a:srgbClr val="FF0000"/>
              </a:solidFill>
              <a:latin typeface="Arial" panose="020B0604020202020204" pitchFamily="34" charset="0"/>
              <a:ea typeface="ＭＳ Ｐゴシック" panose="020B0600070205080204" pitchFamily="50" charset="-128"/>
              <a:cs typeface="Arial" panose="020B0604020202020204" pitchFamily="34" charset="0"/>
            </a:endParaRPr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AEC95E80-6E6F-BDC6-B14D-518B60D5CBD1}"/>
              </a:ext>
            </a:extLst>
          </p:cNvPr>
          <p:cNvGrpSpPr/>
          <p:nvPr/>
        </p:nvGrpSpPr>
        <p:grpSpPr>
          <a:xfrm>
            <a:off x="7370304" y="5905565"/>
            <a:ext cx="4112850" cy="360000"/>
            <a:chOff x="7370304" y="5905565"/>
            <a:chExt cx="4112850" cy="360000"/>
          </a:xfrm>
        </p:grpSpPr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A7EA5CD5-86F9-F326-69B8-25AAD939F8E9}"/>
                </a:ext>
              </a:extLst>
            </p:cNvPr>
            <p:cNvSpPr/>
            <p:nvPr/>
          </p:nvSpPr>
          <p:spPr>
            <a:xfrm>
              <a:off x="9677242" y="5905565"/>
              <a:ext cx="1644962" cy="360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36967470-6410-B53C-A60F-A2C048409CE5}"/>
                </a:ext>
              </a:extLst>
            </p:cNvPr>
            <p:cNvSpPr/>
            <p:nvPr/>
          </p:nvSpPr>
          <p:spPr>
            <a:xfrm>
              <a:off x="7547617" y="5905565"/>
              <a:ext cx="2129625" cy="360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円弧 16">
              <a:extLst>
                <a:ext uri="{FF2B5EF4-FFF2-40B4-BE49-F238E27FC236}">
                  <a16:creationId xmlns:a16="http://schemas.microsoft.com/office/drawing/2014/main" id="{8007FD57-E46A-B992-C8C7-38C75F86348A}"/>
                </a:ext>
              </a:extLst>
            </p:cNvPr>
            <p:cNvSpPr/>
            <p:nvPr/>
          </p:nvSpPr>
          <p:spPr>
            <a:xfrm>
              <a:off x="11123154" y="5905565"/>
              <a:ext cx="360000" cy="360000"/>
            </a:xfrm>
            <a:prstGeom prst="arc">
              <a:avLst>
                <a:gd name="adj1" fmla="val 16200000"/>
                <a:gd name="adj2" fmla="val 5348694"/>
              </a:avLst>
            </a:prstGeom>
            <a:solidFill>
              <a:srgbClr val="0070C0"/>
            </a:solidFill>
            <a:ln w="38100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円弧 17">
              <a:extLst>
                <a:ext uri="{FF2B5EF4-FFF2-40B4-BE49-F238E27FC236}">
                  <a16:creationId xmlns:a16="http://schemas.microsoft.com/office/drawing/2014/main" id="{9DFDF9E5-2B78-5F49-6B4C-6E5C0F011B0B}"/>
                </a:ext>
              </a:extLst>
            </p:cNvPr>
            <p:cNvSpPr/>
            <p:nvPr/>
          </p:nvSpPr>
          <p:spPr>
            <a:xfrm rot="10800000">
              <a:off x="7370304" y="5905565"/>
              <a:ext cx="360000" cy="360000"/>
            </a:xfrm>
            <a:prstGeom prst="arc">
              <a:avLst>
                <a:gd name="adj1" fmla="val 16200000"/>
                <a:gd name="adj2" fmla="val 5348694"/>
              </a:avLst>
            </a:prstGeom>
            <a:solidFill>
              <a:srgbClr val="00B0F0"/>
            </a:solidFill>
            <a:ln w="38100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9" name="直線コネクタ 18">
              <a:extLst>
                <a:ext uri="{FF2B5EF4-FFF2-40B4-BE49-F238E27FC236}">
                  <a16:creationId xmlns:a16="http://schemas.microsoft.com/office/drawing/2014/main" id="{3826C09B-4073-588E-A98A-5F1C1EA642D2}"/>
                </a:ext>
              </a:extLst>
            </p:cNvPr>
            <p:cNvCxnSpPr>
              <a:cxnSpLocks/>
              <a:stCxn id="18" idx="2"/>
              <a:endCxn id="17" idx="0"/>
            </p:cNvCxnSpPr>
            <p:nvPr/>
          </p:nvCxnSpPr>
          <p:spPr>
            <a:xfrm flipV="1">
              <a:off x="7547618" y="5905565"/>
              <a:ext cx="3755536" cy="20"/>
            </a:xfrm>
            <a:prstGeom prst="line">
              <a:avLst/>
            </a:prstGeom>
            <a:ln w="38100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コネクタ 19">
              <a:extLst>
                <a:ext uri="{FF2B5EF4-FFF2-40B4-BE49-F238E27FC236}">
                  <a16:creationId xmlns:a16="http://schemas.microsoft.com/office/drawing/2014/main" id="{BF035B2B-E5A1-CC49-5BB4-BEB6445C2DC8}"/>
                </a:ext>
              </a:extLst>
            </p:cNvPr>
            <p:cNvCxnSpPr>
              <a:cxnSpLocks/>
              <a:stCxn id="18" idx="0"/>
              <a:endCxn id="17" idx="2"/>
            </p:cNvCxnSpPr>
            <p:nvPr/>
          </p:nvCxnSpPr>
          <p:spPr>
            <a:xfrm flipV="1">
              <a:off x="7550304" y="6265545"/>
              <a:ext cx="3755536" cy="20"/>
            </a:xfrm>
            <a:prstGeom prst="line">
              <a:avLst/>
            </a:prstGeom>
            <a:ln w="38100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D1AF0697-9BE3-CBCF-9A69-B271B521087A}"/>
              </a:ext>
            </a:extLst>
          </p:cNvPr>
          <p:cNvSpPr txBox="1"/>
          <p:nvPr/>
        </p:nvSpPr>
        <p:spPr>
          <a:xfrm>
            <a:off x="7872557" y="2270499"/>
            <a:ext cx="313419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6000" b="1" dirty="0">
                <a:solidFill>
                  <a:srgbClr val="0070C0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TEAM B</a:t>
            </a:r>
            <a:endParaRPr kumimoji="1" lang="ja-JP" altLang="en-US" sz="6000" b="1" dirty="0">
              <a:solidFill>
                <a:srgbClr val="0070C0"/>
              </a:solidFill>
              <a:latin typeface="Arial" panose="020B0604020202020204" pitchFamily="34" charset="0"/>
              <a:ea typeface="ＭＳ Ｐゴシック" panose="020B0600070205080204" pitchFamily="50" charset="-128"/>
              <a:cs typeface="Arial" panose="020B0604020202020204" pitchFamily="34" charset="0"/>
            </a:endParaRPr>
          </a:p>
        </p:txBody>
      </p:sp>
      <p:pic>
        <p:nvPicPr>
          <p:cNvPr id="23" name="グラフィックス 4">
            <a:extLst>
              <a:ext uri="{FF2B5EF4-FFF2-40B4-BE49-F238E27FC236}">
                <a16:creationId xmlns:a16="http://schemas.microsoft.com/office/drawing/2014/main" id="{4DE2758C-43C3-70AB-6663-ABB845684D8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45629" y="3429000"/>
            <a:ext cx="1876972" cy="2160000"/>
          </a:xfrm>
          <a:custGeom>
            <a:avLst/>
            <a:gdLst>
              <a:gd name="connsiteX0" fmla="*/ 201 w 5960698"/>
              <a:gd name="connsiteY0" fmla="*/ 209 h 6859496"/>
              <a:gd name="connsiteX1" fmla="*/ 5960900 w 5960698"/>
              <a:gd name="connsiteY1" fmla="*/ 209 h 6859496"/>
              <a:gd name="connsiteX2" fmla="*/ 5960900 w 5960698"/>
              <a:gd name="connsiteY2" fmla="*/ 6859707 h 6859496"/>
              <a:gd name="connsiteX3" fmla="*/ 201 w 5960698"/>
              <a:gd name="connsiteY3" fmla="*/ 6859707 h 685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60698" h="6859496">
                <a:moveTo>
                  <a:pt x="201" y="209"/>
                </a:moveTo>
                <a:lnTo>
                  <a:pt x="5960900" y="209"/>
                </a:lnTo>
                <a:lnTo>
                  <a:pt x="5960900" y="6859707"/>
                </a:lnTo>
                <a:lnTo>
                  <a:pt x="201" y="6859707"/>
                </a:lnTo>
                <a:close/>
              </a:path>
            </a:pathLst>
          </a:custGeom>
        </p:spPr>
      </p:pic>
      <p:pic>
        <p:nvPicPr>
          <p:cNvPr id="32" name="グラフィックス 4">
            <a:extLst>
              <a:ext uri="{FF2B5EF4-FFF2-40B4-BE49-F238E27FC236}">
                <a16:creationId xmlns:a16="http://schemas.microsoft.com/office/drawing/2014/main" id="{32AA64DA-0468-F8D1-10A0-6CB4810A4C1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510314" y="3429000"/>
            <a:ext cx="1876972" cy="2160000"/>
          </a:xfrm>
          <a:custGeom>
            <a:avLst/>
            <a:gdLst>
              <a:gd name="connsiteX0" fmla="*/ 201 w 5960698"/>
              <a:gd name="connsiteY0" fmla="*/ 209 h 6859496"/>
              <a:gd name="connsiteX1" fmla="*/ 5960900 w 5960698"/>
              <a:gd name="connsiteY1" fmla="*/ 209 h 6859496"/>
              <a:gd name="connsiteX2" fmla="*/ 5960900 w 5960698"/>
              <a:gd name="connsiteY2" fmla="*/ 6859707 h 6859496"/>
              <a:gd name="connsiteX3" fmla="*/ 201 w 5960698"/>
              <a:gd name="connsiteY3" fmla="*/ 6859707 h 685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60698" h="6859496">
                <a:moveTo>
                  <a:pt x="201" y="209"/>
                </a:moveTo>
                <a:lnTo>
                  <a:pt x="5960900" y="209"/>
                </a:lnTo>
                <a:lnTo>
                  <a:pt x="5960900" y="6859707"/>
                </a:lnTo>
                <a:lnTo>
                  <a:pt x="201" y="685970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262509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789DB268-8094-2751-2AF9-75FA70A06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マッスルチェアは応援などによる</a:t>
            </a:r>
            <a:br>
              <a:rPr kumimoji="1" lang="en-US" altLang="ja-JP" dirty="0"/>
            </a:br>
            <a:r>
              <a:rPr kumimoji="1" lang="ja-JP" altLang="en-US" dirty="0"/>
              <a:t>熱いエネルギーで運動を促進</a:t>
            </a:r>
            <a:endParaRPr kumimoji="1" lang="en-US" altLang="ja-JP" dirty="0"/>
          </a:p>
          <a:p>
            <a:pPr lvl="1"/>
            <a:r>
              <a:rPr lang="ja-JP" altLang="en-US" sz="2800" dirty="0"/>
              <a:t>椅子から立ち上がり，数分歩き回る</a:t>
            </a:r>
            <a:br>
              <a:rPr lang="en-US" altLang="ja-JP" sz="2800" dirty="0"/>
            </a:br>
            <a:r>
              <a:rPr lang="ja-JP" altLang="en-US" sz="2800" dirty="0"/>
              <a:t>だけで血糖値や血圧の上昇を抑制</a:t>
            </a:r>
            <a:endParaRPr lang="en-US" altLang="ja-JP" sz="3600" dirty="0"/>
          </a:p>
          <a:p>
            <a:r>
              <a:rPr kumimoji="1" lang="en-US" altLang="ja-JP" dirty="0"/>
              <a:t>Web API</a:t>
            </a:r>
            <a:r>
              <a:rPr kumimoji="1" lang="ja-JP" altLang="en-US" dirty="0"/>
              <a:t>で連携する，柔軟で拡張性の</a:t>
            </a:r>
            <a:br>
              <a:rPr kumimoji="1" lang="en-US" altLang="ja-JP" dirty="0"/>
            </a:br>
            <a:r>
              <a:rPr kumimoji="1" lang="ja-JP" altLang="en-US" dirty="0"/>
              <a:t>高い疎結合なシステム構成</a:t>
            </a:r>
            <a:endParaRPr kumimoji="1" lang="en-US" altLang="ja-JP" dirty="0"/>
          </a:p>
          <a:p>
            <a:pPr lvl="1"/>
            <a:r>
              <a:rPr lang="ja-JP" altLang="en-US" sz="2800" dirty="0"/>
              <a:t>入力層，中央層，出力層で完全な</a:t>
            </a:r>
            <a:br>
              <a:rPr lang="en-US" altLang="ja-JP" sz="2800" dirty="0"/>
            </a:br>
            <a:r>
              <a:rPr lang="ja-JP" altLang="en-US" sz="2800" dirty="0"/>
              <a:t>並行開発が可能</a:t>
            </a:r>
            <a:endParaRPr lang="en-US" altLang="ja-JP" sz="2800" dirty="0"/>
          </a:p>
          <a:p>
            <a:pPr lvl="1"/>
            <a:r>
              <a:rPr kumimoji="1" lang="ja-JP" altLang="en-US" sz="2800" dirty="0"/>
              <a:t>レゴブロックのように新しい部品を簡単に</a:t>
            </a:r>
            <a:br>
              <a:rPr kumimoji="1" lang="en-US" altLang="ja-JP" sz="2800" dirty="0"/>
            </a:br>
            <a:r>
              <a:rPr kumimoji="1" lang="ja-JP" altLang="en-US" sz="2800" dirty="0"/>
              <a:t>追加したり交換したりすることが可能</a:t>
            </a:r>
            <a:endParaRPr kumimoji="1" lang="en-US" altLang="ja-JP" sz="2800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C098AF03-252F-AFAF-EF06-5838F2B04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まとめ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9EF7CD1-2222-04CB-BC38-8A9AD206B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9D727-202F-41E9-B9E9-EC03C40CD1DE}" type="slidenum">
              <a:rPr lang="ja-JP" altLang="en-US" smtClean="0"/>
              <a:pPr/>
              <a:t>9</a:t>
            </a:fld>
            <a:endParaRPr lang="ja-JP" altLang="en-US" dirty="0"/>
          </a:p>
        </p:txBody>
      </p:sp>
      <p:pic>
        <p:nvPicPr>
          <p:cNvPr id="5" name="グラフィックス 24">
            <a:extLst>
              <a:ext uri="{FF2B5EF4-FFF2-40B4-BE49-F238E27FC236}">
                <a16:creationId xmlns:a16="http://schemas.microsoft.com/office/drawing/2014/main" id="{66EE6479-5042-6BE1-115E-583AAC262B4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170635" y="1131291"/>
            <a:ext cx="4860000" cy="4860000"/>
          </a:xfrm>
          <a:custGeom>
            <a:avLst/>
            <a:gdLst>
              <a:gd name="connsiteX0" fmla="*/ 22 w 4709253"/>
              <a:gd name="connsiteY0" fmla="*/ -22 h 4709253"/>
              <a:gd name="connsiteX1" fmla="*/ 4709276 w 4709253"/>
              <a:gd name="connsiteY1" fmla="*/ -22 h 4709253"/>
              <a:gd name="connsiteX2" fmla="*/ 4709276 w 4709253"/>
              <a:gd name="connsiteY2" fmla="*/ 4709232 h 4709253"/>
              <a:gd name="connsiteX3" fmla="*/ 22 w 4709253"/>
              <a:gd name="connsiteY3" fmla="*/ 4709232 h 4709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09253" h="4709253">
                <a:moveTo>
                  <a:pt x="22" y="-22"/>
                </a:moveTo>
                <a:lnTo>
                  <a:pt x="4709276" y="-22"/>
                </a:lnTo>
                <a:lnTo>
                  <a:pt x="4709276" y="4709232"/>
                </a:lnTo>
                <a:lnTo>
                  <a:pt x="22" y="4709232"/>
                </a:lnTo>
                <a:close/>
              </a:path>
            </a:pathLst>
          </a:custGeom>
        </p:spPr>
      </p:pic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A6A0E4E4-583A-AB32-74DE-32A8479E0F45}"/>
              </a:ext>
            </a:extLst>
          </p:cNvPr>
          <p:cNvSpPr/>
          <p:nvPr/>
        </p:nvSpPr>
        <p:spPr>
          <a:xfrm>
            <a:off x="2496000" y="5821475"/>
            <a:ext cx="7200000" cy="90000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200" dirty="0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マッスルチェアで運動のきっかけを！</a:t>
            </a:r>
          </a:p>
        </p:txBody>
      </p:sp>
    </p:spTree>
    <p:extLst>
      <p:ext uri="{BB962C8B-B14F-4D97-AF65-F5344CB8AC3E}">
        <p14:creationId xmlns:p14="http://schemas.microsoft.com/office/powerpoint/2010/main" val="40315114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2331</TotalTime>
  <Words>370</Words>
  <Application>Microsoft Office PowerPoint</Application>
  <PresentationFormat>ワイド画面</PresentationFormat>
  <Paragraphs>79</Paragraphs>
  <Slides>9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3" baseType="lpstr">
      <vt:lpstr>ＭＳ Ｐゴシック</vt:lpstr>
      <vt:lpstr>游ゴシック</vt:lpstr>
      <vt:lpstr>Arial</vt:lpstr>
      <vt:lpstr>Office テーマ</vt:lpstr>
      <vt:lpstr>タイトル</vt:lpstr>
      <vt:lpstr>その応援，もったいない！</vt:lpstr>
      <vt:lpstr>マッスルチェア，ここに誕生！</vt:lpstr>
      <vt:lpstr>そして，対戦形式へ！</vt:lpstr>
      <vt:lpstr>こだわりのシステム構成（入力層）</vt:lpstr>
      <vt:lpstr>こだわりのシステム構成（中間層）</vt:lpstr>
      <vt:lpstr>こだわりのシステム構成（出力層）</vt:lpstr>
      <vt:lpstr>ライブデモンストレーション！</vt:lpstr>
      <vt:lpstr>まとめ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夏山 翠温</dc:creator>
  <cp:lastModifiedBy>夏山 翠温</cp:lastModifiedBy>
  <cp:revision>18</cp:revision>
  <dcterms:created xsi:type="dcterms:W3CDTF">2025-09-06T13:24:22Z</dcterms:created>
  <dcterms:modified xsi:type="dcterms:W3CDTF">2025-09-27T04:47:59Z</dcterms:modified>
</cp:coreProperties>
</file>